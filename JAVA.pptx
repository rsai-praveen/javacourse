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4" r:id="rId1"/>
  </p:sldMasterIdLst>
  <p:notesMasterIdLst>
    <p:notesMasterId r:id="rId77"/>
  </p:notesMasterIdLst>
  <p:handoutMasterIdLst>
    <p:handoutMasterId r:id="rId78"/>
  </p:handoutMasterIdLst>
  <p:sldIdLst>
    <p:sldId id="256" r:id="rId2"/>
    <p:sldId id="284" r:id="rId3"/>
    <p:sldId id="285" r:id="rId4"/>
    <p:sldId id="286" r:id="rId5"/>
    <p:sldId id="287" r:id="rId6"/>
    <p:sldId id="288" r:id="rId7"/>
    <p:sldId id="289" r:id="rId8"/>
    <p:sldId id="290" r:id="rId9"/>
    <p:sldId id="291" r:id="rId10"/>
    <p:sldId id="292" r:id="rId11"/>
    <p:sldId id="293" r:id="rId12"/>
    <p:sldId id="274" r:id="rId13"/>
    <p:sldId id="296" r:id="rId14"/>
    <p:sldId id="277" r:id="rId15"/>
    <p:sldId id="276" r:id="rId16"/>
    <p:sldId id="278" r:id="rId17"/>
    <p:sldId id="279" r:id="rId18"/>
    <p:sldId id="280" r:id="rId19"/>
    <p:sldId id="281" r:id="rId20"/>
    <p:sldId id="282" r:id="rId21"/>
    <p:sldId id="283" r:id="rId22"/>
    <p:sldId id="297" r:id="rId23"/>
    <p:sldId id="298" r:id="rId24"/>
    <p:sldId id="299" r:id="rId25"/>
    <p:sldId id="301" r:id="rId26"/>
    <p:sldId id="300" r:id="rId27"/>
    <p:sldId id="302" r:id="rId28"/>
    <p:sldId id="303" r:id="rId29"/>
    <p:sldId id="304" r:id="rId30"/>
    <p:sldId id="305" r:id="rId31"/>
    <p:sldId id="306" r:id="rId32"/>
    <p:sldId id="308" r:id="rId33"/>
    <p:sldId id="309" r:id="rId34"/>
    <p:sldId id="307" r:id="rId35"/>
    <p:sldId id="265" r:id="rId36"/>
    <p:sldId id="310" r:id="rId37"/>
    <p:sldId id="311" r:id="rId38"/>
    <p:sldId id="264" r:id="rId39"/>
    <p:sldId id="313" r:id="rId40"/>
    <p:sldId id="314" r:id="rId41"/>
    <p:sldId id="317" r:id="rId42"/>
    <p:sldId id="318" r:id="rId43"/>
    <p:sldId id="319" r:id="rId44"/>
    <p:sldId id="262" r:id="rId45"/>
    <p:sldId id="258" r:id="rId46"/>
    <p:sldId id="260" r:id="rId47"/>
    <p:sldId id="261" r:id="rId48"/>
    <p:sldId id="259" r:id="rId49"/>
    <p:sldId id="263" r:id="rId50"/>
    <p:sldId id="266" r:id="rId51"/>
    <p:sldId id="267" r:id="rId52"/>
    <p:sldId id="268" r:id="rId53"/>
    <p:sldId id="269" r:id="rId54"/>
    <p:sldId id="270" r:id="rId55"/>
    <p:sldId id="271" r:id="rId56"/>
    <p:sldId id="320" r:id="rId57"/>
    <p:sldId id="321" r:id="rId58"/>
    <p:sldId id="322" r:id="rId59"/>
    <p:sldId id="323" r:id="rId60"/>
    <p:sldId id="324" r:id="rId61"/>
    <p:sldId id="325" r:id="rId62"/>
    <p:sldId id="326" r:id="rId63"/>
    <p:sldId id="327" r:id="rId64"/>
    <p:sldId id="328" r:id="rId65"/>
    <p:sldId id="329" r:id="rId66"/>
    <p:sldId id="330" r:id="rId67"/>
    <p:sldId id="331" r:id="rId68"/>
    <p:sldId id="332" r:id="rId69"/>
    <p:sldId id="333" r:id="rId70"/>
    <p:sldId id="334" r:id="rId71"/>
    <p:sldId id="335" r:id="rId72"/>
    <p:sldId id="336" r:id="rId73"/>
    <p:sldId id="337" r:id="rId74"/>
    <p:sldId id="338" r:id="rId75"/>
    <p:sldId id="339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674FF02-292C-464B-97B4-49DA7906C75E}">
          <p14:sldIdLst>
            <p14:sldId id="256"/>
            <p14:sldId id="284"/>
            <p14:sldId id="285"/>
            <p14:sldId id="286"/>
            <p14:sldId id="287"/>
          </p14:sldIdLst>
        </p14:section>
        <p14:section name="JRE" id="{B0AD91CD-2A9A-9D48-81CF-0E0DD427F0B9}">
          <p14:sldIdLst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Memory Blocks" id="{A57F900B-176E-CF45-9298-CFD5246F8546}">
          <p14:sldIdLst>
            <p14:sldId id="274"/>
            <p14:sldId id="296"/>
          </p14:sldIdLst>
        </p14:section>
        <p14:section name="Structure of Java" id="{AD8F6330-ADC1-D741-B619-745F35A647D9}">
          <p14:sldIdLst>
            <p14:sldId id="277"/>
            <p14:sldId id="276"/>
            <p14:sldId id="278"/>
            <p14:sldId id="279"/>
            <p14:sldId id="280"/>
            <p14:sldId id="281"/>
            <p14:sldId id="282"/>
          </p14:sldIdLst>
        </p14:section>
        <p14:section name="Naming Convention" id="{5ECA7B19-CC68-C949-9A41-C1E5F80EBCF4}">
          <p14:sldIdLst>
            <p14:sldId id="283"/>
          </p14:sldIdLst>
        </p14:section>
        <p14:section name="Variables" id="{D3D2208D-395D-914C-BF3B-F4F5F28A268C}">
          <p14:sldIdLst>
            <p14:sldId id="297"/>
            <p14:sldId id="298"/>
          </p14:sldIdLst>
        </p14:section>
        <p14:section name="Data Types" id="{DC091170-F3EC-9341-A613-27ABE8E5BA54}">
          <p14:sldIdLst>
            <p14:sldId id="299"/>
            <p14:sldId id="301"/>
            <p14:sldId id="300"/>
          </p14:sldIdLst>
        </p14:section>
        <p14:section name="Methods" id="{2A71B2C7-C261-FD43-BA2E-283D67F0DB1E}">
          <p14:sldIdLst>
            <p14:sldId id="302"/>
            <p14:sldId id="303"/>
            <p14:sldId id="304"/>
          </p14:sldIdLst>
        </p14:section>
        <p14:section name="OOPS" id="{F8847558-FEE8-0A41-9E31-459CD356F6F7}">
          <p14:sldIdLst>
            <p14:sldId id="305"/>
            <p14:sldId id="306"/>
            <p14:sldId id="308"/>
            <p14:sldId id="309"/>
            <p14:sldId id="307"/>
            <p14:sldId id="265"/>
            <p14:sldId id="310"/>
            <p14:sldId id="311"/>
            <p14:sldId id="264"/>
            <p14:sldId id="313"/>
            <p14:sldId id="314"/>
          </p14:sldIdLst>
        </p14:section>
        <p14:section name="method overloading" id="{0DF4CCF1-EFC9-AD4C-8AE8-92889303420C}">
          <p14:sldIdLst>
            <p14:sldId id="317"/>
          </p14:sldIdLst>
        </p14:section>
        <p14:section name="constructor" id="{E956E76C-D0C3-F547-82B3-5AF9F8F59ED3}">
          <p14:sldIdLst>
            <p14:sldId id="318"/>
            <p14:sldId id="319"/>
          </p14:sldIdLst>
        </p14:section>
        <p14:section name="Inheritance" id="{8CADAE95-11EF-574A-95F7-8EE9A86821A6}">
          <p14:sldIdLst>
            <p14:sldId id="262"/>
            <p14:sldId id="258"/>
            <p14:sldId id="260"/>
            <p14:sldId id="261"/>
            <p14:sldId id="259"/>
          </p14:sldIdLst>
        </p14:section>
        <p14:section name="method overriding" id="{9F33CB89-60DB-6248-A42F-371B310BD09B}">
          <p14:sldIdLst>
            <p14:sldId id="263"/>
            <p14:sldId id="266"/>
          </p14:sldIdLst>
        </p14:section>
        <p14:section name="Abstraction" id="{53E2DD11-46C0-F441-A3FA-5D32ED683365}">
          <p14:sldIdLst>
            <p14:sldId id="267"/>
            <p14:sldId id="268"/>
            <p14:sldId id="269"/>
            <p14:sldId id="270"/>
            <p14:sldId id="271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</p14:sldIdLst>
        </p14:section>
        <p14:section name="Arrays" id="{7E1C40A5-ED35-654C-8B31-4B720E973DC8}">
          <p14:sldIdLst>
            <p14:sldId id="334"/>
            <p14:sldId id="335"/>
            <p14:sldId id="336"/>
            <p14:sldId id="337"/>
          </p14:sldIdLst>
        </p14:section>
        <p14:section name="Collections" id="{6D416864-AA2F-084F-9982-F6C9B0B7E392}">
          <p14:sldIdLst>
            <p14:sldId id="338"/>
            <p14:sldId id="33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–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966"/>
    <p:restoredTop sz="91337"/>
  </p:normalViewPr>
  <p:slideViewPr>
    <p:cSldViewPr snapToGrid="0">
      <p:cViewPr varScale="1">
        <p:scale>
          <a:sx n="103" d="100"/>
          <a:sy n="103" d="100"/>
        </p:scale>
        <p:origin x="448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handoutMaster" Target="handoutMasters/handoutMaster1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9DFD24B-2595-6E71-2D62-EC609AE6A01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CE5AD4-F69B-AAF3-BC74-D705DCD3A19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93A93E-98D8-2E40-9923-E936BE611E4E}" type="datetimeFigureOut">
              <a:rPr lang="en-US" smtClean="0"/>
              <a:t>2/1/26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601F1D-6085-D5EB-588B-7EF2A92966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24A2D3-D987-3957-3D1B-CFF065FB62C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6D92BE-99D7-984E-B851-D7871FF35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97263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7820E3-4170-A04A-9863-FAEB3C2C71C2}" type="datetimeFigureOut">
              <a:rPr lang="en-US" smtClean="0"/>
              <a:t>2/1/26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EE2E58-756C-C940-AF2F-0410F70AB4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264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0476E-A797-5448-979D-118521238144}" type="datetime1">
              <a:rPr lang="en-IN" smtClean="0"/>
              <a:t>01/02/26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331954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3706B-D909-9D4A-A176-1700ACF47983}" type="datetime1">
              <a:rPr lang="en-IN" smtClean="0"/>
              <a:t>01/02/26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751935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D1BD50BA-E8DE-084B-BA32-A9837CF2DE60}" type="datetime1">
              <a:rPr lang="en-IN" smtClean="0"/>
              <a:t>01/02/26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970360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A85A6-BF03-7741-809D-65C12097F284}" type="datetime1">
              <a:rPr lang="en-IN" smtClean="0"/>
              <a:t>01/02/26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016321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93A90F-FA70-3E47-9BBA-18D6215A5B36}" type="datetime1">
              <a:rPr lang="en-IN" smtClean="0"/>
              <a:t>01/02/26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1806112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F2ADE-8A8E-B443-8D46-D9B134B84855}" type="datetime1">
              <a:rPr lang="en-IN" smtClean="0"/>
              <a:t>01/02/26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546101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40496A-8400-6848-AC58-A04D5A58DFED}" type="datetime1">
              <a:rPr lang="en-IN" smtClean="0"/>
              <a:t>01/02/26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543703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2BEAE-C4DC-794B-AFC2-3BF74B7B36F6}" type="datetime1">
              <a:rPr lang="en-IN" smtClean="0"/>
              <a:t>01/02/26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770403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1900C-6887-7F40-BDA0-577016359EF8}" type="datetime1">
              <a:rPr lang="en-IN" smtClean="0"/>
              <a:t>01/02/26</a:t>
            </a:fld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81896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08F0-9317-2349-9230-B740A0E6FF1C}" type="datetime1">
              <a:rPr lang="en-IN" smtClean="0"/>
              <a:t>01/02/26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633522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5B45A-5479-AD4C-A2CB-815163E461CA}" type="datetime1">
              <a:rPr lang="en-IN" smtClean="0"/>
              <a:t>01/02/26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690011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5B9464B0-3E51-C74D-AF1E-502AF719137F}" type="datetime1">
              <a:rPr lang="en-IN" smtClean="0"/>
              <a:t>01/02/26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7F342F82-AF32-5C4E-8326-35C2ACAE51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7864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oracle.com/java/technologies/downloads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D47C2-0B6B-6CBB-C1EC-3358253948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A081CB-ACCF-57FA-A56A-75857EA463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7382836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CD080-B217-BEA8-1F6E-4174EF3DC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E6BD41-C36B-5E3E-C13B-16D9C8ACC2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Simple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Object oriented Programming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Robust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Secured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Platform Independent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Architecture neutral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Portable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Strongly typed language (means need to declare data type)</a:t>
            </a:r>
          </a:p>
        </p:txBody>
      </p:sp>
    </p:spTree>
    <p:extLst>
      <p:ext uri="{BB962C8B-B14F-4D97-AF65-F5344CB8AC3E}">
        <p14:creationId xmlns:p14="http://schemas.microsoft.com/office/powerpoint/2010/main" val="137518379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C60C1-5AE7-A7F8-A0F9-6D09605B4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8A3215-1060-73B8-55C5-306916BC9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https://www.oracle.com/java/technologies/downloads/</a:t>
            </a:r>
            <a:endParaRPr lang="en-US" dirty="0"/>
          </a:p>
          <a:p>
            <a:r>
              <a:rPr lang="en-US" dirty="0"/>
              <a:t>Java17 (Preferred)</a:t>
            </a:r>
          </a:p>
          <a:p>
            <a:r>
              <a:rPr lang="en-US" dirty="0"/>
              <a:t>Confirmation =&gt; java --version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912B2F-E707-8002-1301-F02197839B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4382" y="3428999"/>
            <a:ext cx="8537190" cy="2168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692136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6BA61DB6-E70B-4B4F-4A4E-EF54DFFBE49B}"/>
              </a:ext>
            </a:extLst>
          </p:cNvPr>
          <p:cNvSpPr/>
          <p:nvPr/>
        </p:nvSpPr>
        <p:spPr>
          <a:xfrm>
            <a:off x="1023551" y="2248931"/>
            <a:ext cx="9689757" cy="4287794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E0D1D89-0946-056B-A6D6-091AE1D73406}"/>
              </a:ext>
            </a:extLst>
          </p:cNvPr>
          <p:cNvSpPr/>
          <p:nvPr/>
        </p:nvSpPr>
        <p:spPr>
          <a:xfrm>
            <a:off x="2580503" y="179680"/>
            <a:ext cx="6146459" cy="19015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CD19334-37DF-D7B1-300F-965587853BB1}"/>
              </a:ext>
            </a:extLst>
          </p:cNvPr>
          <p:cNvCxnSpPr>
            <a:stCxn id="4" idx="2"/>
            <a:endCxn id="6" idx="0"/>
          </p:cNvCxnSpPr>
          <p:nvPr/>
        </p:nvCxnSpPr>
        <p:spPr>
          <a:xfrm rot="5400000">
            <a:off x="5134493" y="850812"/>
            <a:ext cx="563262" cy="475219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08D62F2-BA81-19E9-4680-D53C7CD5F222}"/>
              </a:ext>
            </a:extLst>
          </p:cNvPr>
          <p:cNvSpPr txBox="1"/>
          <p:nvPr/>
        </p:nvSpPr>
        <p:spPr>
          <a:xfrm>
            <a:off x="5184690" y="2413337"/>
            <a:ext cx="1295401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APIs(.jar)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14879B-758E-8DC2-23B4-D0777CB18B8F}"/>
              </a:ext>
            </a:extLst>
          </p:cNvPr>
          <p:cNvSpPr txBox="1"/>
          <p:nvPr/>
        </p:nvSpPr>
        <p:spPr>
          <a:xfrm>
            <a:off x="4759410" y="3401281"/>
            <a:ext cx="2135659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Collections of packages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ABB6A2-4197-B0F9-E332-83FFF3A50EC1}"/>
              </a:ext>
            </a:extLst>
          </p:cNvPr>
          <p:cNvSpPr txBox="1"/>
          <p:nvPr/>
        </p:nvSpPr>
        <p:spPr>
          <a:xfrm>
            <a:off x="6174258" y="5391666"/>
            <a:ext cx="1295401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Fields or constants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C8B49F-5B76-F81F-E74B-97CE023AF1B7}"/>
              </a:ext>
            </a:extLst>
          </p:cNvPr>
          <p:cNvSpPr txBox="1"/>
          <p:nvPr/>
        </p:nvSpPr>
        <p:spPr>
          <a:xfrm>
            <a:off x="7457302" y="4361933"/>
            <a:ext cx="1295401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Interfaces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CF904F-25F5-5A04-AE1E-7903258B17AC}"/>
              </a:ext>
            </a:extLst>
          </p:cNvPr>
          <p:cNvSpPr txBox="1"/>
          <p:nvPr/>
        </p:nvSpPr>
        <p:spPr>
          <a:xfrm>
            <a:off x="2901776" y="4361933"/>
            <a:ext cx="1295401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0F99EF-B73B-FAA1-3507-4CB9FD9B365E}"/>
              </a:ext>
            </a:extLst>
          </p:cNvPr>
          <p:cNvSpPr txBox="1"/>
          <p:nvPr/>
        </p:nvSpPr>
        <p:spPr>
          <a:xfrm>
            <a:off x="1932802" y="5476100"/>
            <a:ext cx="1295401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variables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E50199-F31F-F50F-7F81-79FA2375CE2F}"/>
              </a:ext>
            </a:extLst>
          </p:cNvPr>
          <p:cNvSpPr txBox="1"/>
          <p:nvPr/>
        </p:nvSpPr>
        <p:spPr>
          <a:xfrm>
            <a:off x="3762636" y="5487085"/>
            <a:ext cx="1295401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Methods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9004C1-6323-CBFD-EE19-4CC7C77AB929}"/>
              </a:ext>
            </a:extLst>
          </p:cNvPr>
          <p:cNvSpPr txBox="1"/>
          <p:nvPr/>
        </p:nvSpPr>
        <p:spPr>
          <a:xfrm>
            <a:off x="8752703" y="5393723"/>
            <a:ext cx="1295401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Abstract Methods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9971522-5CB1-693C-77DC-315FC73A0545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 flipH="1">
            <a:off x="5827240" y="2782669"/>
            <a:ext cx="5151" cy="61861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18AB65E7-8E52-333D-13AA-5795B6EF5ADB}"/>
              </a:ext>
            </a:extLst>
          </p:cNvPr>
          <p:cNvCxnSpPr>
            <a:stCxn id="15" idx="2"/>
            <a:endCxn id="17" idx="0"/>
          </p:cNvCxnSpPr>
          <p:nvPr/>
        </p:nvCxnSpPr>
        <p:spPr>
          <a:xfrm rot="16200000" flipH="1">
            <a:off x="6808961" y="3065890"/>
            <a:ext cx="314321" cy="2277763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003A7083-7571-8B40-C100-EBC64D89CD75}"/>
              </a:ext>
            </a:extLst>
          </p:cNvPr>
          <p:cNvCxnSpPr>
            <a:stCxn id="15" idx="2"/>
            <a:endCxn id="18" idx="0"/>
          </p:cNvCxnSpPr>
          <p:nvPr/>
        </p:nvCxnSpPr>
        <p:spPr>
          <a:xfrm rot="5400000">
            <a:off x="4531199" y="3065891"/>
            <a:ext cx="314321" cy="2277763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BD3E00E9-FD43-9E4D-47C5-43D23BED814F}"/>
              </a:ext>
            </a:extLst>
          </p:cNvPr>
          <p:cNvCxnSpPr>
            <a:stCxn id="18" idx="2"/>
            <a:endCxn id="20" idx="0"/>
          </p:cNvCxnSpPr>
          <p:nvPr/>
        </p:nvCxnSpPr>
        <p:spPr>
          <a:xfrm rot="16200000" flipH="1">
            <a:off x="3601997" y="4678745"/>
            <a:ext cx="755820" cy="860860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F88F8890-3D74-7AB9-326E-5BBA22A5BAC3}"/>
              </a:ext>
            </a:extLst>
          </p:cNvPr>
          <p:cNvCxnSpPr>
            <a:stCxn id="18" idx="2"/>
            <a:endCxn id="19" idx="0"/>
          </p:cNvCxnSpPr>
          <p:nvPr/>
        </p:nvCxnSpPr>
        <p:spPr>
          <a:xfrm rot="5400000">
            <a:off x="2692573" y="4619195"/>
            <a:ext cx="744835" cy="968974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6A296EEC-8B22-904C-10B1-4FD5B07E1418}"/>
              </a:ext>
            </a:extLst>
          </p:cNvPr>
          <p:cNvCxnSpPr>
            <a:stCxn id="17" idx="2"/>
            <a:endCxn id="21" idx="0"/>
          </p:cNvCxnSpPr>
          <p:nvPr/>
        </p:nvCxnSpPr>
        <p:spPr>
          <a:xfrm rot="16200000" flipH="1">
            <a:off x="8421474" y="4414793"/>
            <a:ext cx="662458" cy="1295401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01BDA9E6-81E2-7334-B85A-EBBAA3E7A2C7}"/>
              </a:ext>
            </a:extLst>
          </p:cNvPr>
          <p:cNvCxnSpPr>
            <a:stCxn id="17" idx="2"/>
            <a:endCxn id="16" idx="0"/>
          </p:cNvCxnSpPr>
          <p:nvPr/>
        </p:nvCxnSpPr>
        <p:spPr>
          <a:xfrm rot="5400000">
            <a:off x="7133281" y="4419943"/>
            <a:ext cx="660401" cy="1283044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BCED053-48FC-F584-CDFB-97E4FD7B16E9}"/>
              </a:ext>
            </a:extLst>
          </p:cNvPr>
          <p:cNvSpPr txBox="1"/>
          <p:nvPr/>
        </p:nvSpPr>
        <p:spPr>
          <a:xfrm>
            <a:off x="5313922" y="436087"/>
            <a:ext cx="679622" cy="370703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JDK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7302C9FD-5B17-6BE6-786C-EDE0E4D1B092}"/>
              </a:ext>
            </a:extLst>
          </p:cNvPr>
          <p:cNvCxnSpPr>
            <a:endCxn id="5" idx="0"/>
          </p:cNvCxnSpPr>
          <p:nvPr/>
        </p:nvCxnSpPr>
        <p:spPr>
          <a:xfrm rot="10800000" flipV="1">
            <a:off x="3207610" y="1087905"/>
            <a:ext cx="1970902" cy="280776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C7302C1-504D-9E5F-714B-AF9F4D670D44}"/>
              </a:ext>
            </a:extLst>
          </p:cNvPr>
          <p:cNvSpPr txBox="1"/>
          <p:nvPr/>
        </p:nvSpPr>
        <p:spPr>
          <a:xfrm>
            <a:off x="2867799" y="1368681"/>
            <a:ext cx="679622" cy="370703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lib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D4DE8E-2C5A-B90A-3740-DF08BDFB1864}"/>
              </a:ext>
            </a:extLst>
          </p:cNvPr>
          <p:cNvSpPr txBox="1"/>
          <p:nvPr/>
        </p:nvSpPr>
        <p:spPr>
          <a:xfrm>
            <a:off x="6809606" y="1370052"/>
            <a:ext cx="1548711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Jre</a:t>
            </a:r>
            <a:r>
              <a:rPr lang="en-US" dirty="0"/>
              <a:t>/</a:t>
            </a:r>
            <a:r>
              <a:rPr lang="en-US" dirty="0" err="1"/>
              <a:t>jmods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73BA03-384E-F5FA-F326-35424322D321}"/>
              </a:ext>
            </a:extLst>
          </p:cNvPr>
          <p:cNvSpPr txBox="1"/>
          <p:nvPr/>
        </p:nvSpPr>
        <p:spPr>
          <a:xfrm>
            <a:off x="4404158" y="1370052"/>
            <a:ext cx="1548711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Bin /tools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FEA0BFE9-6578-22E5-6118-76CCADF30C23}"/>
              </a:ext>
            </a:extLst>
          </p:cNvPr>
          <p:cNvCxnSpPr>
            <a:endCxn id="7" idx="0"/>
          </p:cNvCxnSpPr>
          <p:nvPr/>
        </p:nvCxnSpPr>
        <p:spPr>
          <a:xfrm>
            <a:off x="5178513" y="1089967"/>
            <a:ext cx="2405449" cy="280085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9131370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9E691-9EE0-C1E0-6A45-C4A992BB8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Lib: library or predefined function in the form of jar files(similar to API)</a:t>
            </a:r>
          </a:p>
          <a:p>
            <a:r>
              <a:rPr lang="en-US" dirty="0"/>
              <a:t>Bin: Binaries  or executables</a:t>
            </a:r>
          </a:p>
          <a:p>
            <a:r>
              <a:rPr lang="en-US" dirty="0"/>
              <a:t>Javac: it will compile a java file and create a </a:t>
            </a:r>
            <a:r>
              <a:rPr lang="en-US" b="1" dirty="0">
                <a:solidFill>
                  <a:srgbClr val="FF0000"/>
                </a:solidFill>
              </a:rPr>
              <a:t>.class </a:t>
            </a:r>
            <a:r>
              <a:rPr lang="en-US" dirty="0"/>
              <a:t>file (this is byte code)</a:t>
            </a:r>
          </a:p>
          <a:p>
            <a:pPr marL="0" indent="0">
              <a:buNone/>
            </a:pPr>
            <a:r>
              <a:rPr lang="en-US" dirty="0"/>
              <a:t>		Syntax: </a:t>
            </a:r>
            <a:r>
              <a:rPr lang="en-US" dirty="0" err="1"/>
              <a:t>javac</a:t>
            </a:r>
            <a:r>
              <a:rPr lang="en-US" dirty="0"/>
              <a:t> </a:t>
            </a:r>
            <a:r>
              <a:rPr lang="en-US" dirty="0" err="1"/>
              <a:t>file.java</a:t>
            </a:r>
            <a:endParaRPr lang="en-US" dirty="0"/>
          </a:p>
          <a:p>
            <a:r>
              <a:rPr lang="en-US" dirty="0"/>
              <a:t>Java: this will execute the </a:t>
            </a:r>
            <a:r>
              <a:rPr lang="en-US" b="1" dirty="0">
                <a:solidFill>
                  <a:srgbClr val="FF0000"/>
                </a:solidFill>
              </a:rPr>
              <a:t>.class </a:t>
            </a:r>
            <a:r>
              <a:rPr lang="en-US" dirty="0"/>
              <a:t>file</a:t>
            </a:r>
          </a:p>
          <a:p>
            <a:pPr marL="0" indent="0">
              <a:buNone/>
            </a:pPr>
            <a:r>
              <a:rPr lang="en-US" dirty="0"/>
              <a:t>		Syntax: java </a:t>
            </a:r>
            <a:r>
              <a:rPr lang="en-US" dirty="0" err="1"/>
              <a:t>file.class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927790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A747F-0703-64A3-8A5B-47BEB31B6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JRE (java run time environment)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5891C-FB34-EA93-C207-08A6A1895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Pre-execution of code happens here</a:t>
            </a:r>
          </a:p>
          <a:p>
            <a:r>
              <a:rPr lang="en-US" dirty="0"/>
              <a:t>Collection of information about current working machine</a:t>
            </a:r>
          </a:p>
          <a:p>
            <a:r>
              <a:rPr lang="en-US" dirty="0"/>
              <a:t>Converts </a:t>
            </a:r>
            <a:r>
              <a:rPr lang="en-US" b="1" dirty="0">
                <a:solidFill>
                  <a:srgbClr val="FF0000"/>
                </a:solidFill>
              </a:rPr>
              <a:t>.class </a:t>
            </a:r>
            <a:r>
              <a:rPr lang="en-US" dirty="0"/>
              <a:t>file(byte code) to local understandable format</a:t>
            </a:r>
          </a:p>
          <a:p>
            <a:r>
              <a:rPr lang="en-US" dirty="0"/>
              <a:t>Implementation of tasks for JVM</a:t>
            </a:r>
          </a:p>
        </p:txBody>
      </p:sp>
    </p:spTree>
    <p:extLst>
      <p:ext uri="{BB962C8B-B14F-4D97-AF65-F5344CB8AC3E}">
        <p14:creationId xmlns:p14="http://schemas.microsoft.com/office/powerpoint/2010/main" val="2644603880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3CC7F95-A3AB-5559-6AAB-908379F65977}"/>
              </a:ext>
            </a:extLst>
          </p:cNvPr>
          <p:cNvSpPr/>
          <p:nvPr/>
        </p:nvSpPr>
        <p:spPr>
          <a:xfrm>
            <a:off x="986481" y="580767"/>
            <a:ext cx="10219038" cy="5090984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46329F-E808-2A2E-CBAC-6790C484381F}"/>
              </a:ext>
            </a:extLst>
          </p:cNvPr>
          <p:cNvSpPr txBox="1"/>
          <p:nvPr/>
        </p:nvSpPr>
        <p:spPr>
          <a:xfrm>
            <a:off x="5226908" y="1000897"/>
            <a:ext cx="1248033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JVM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CBC7E5-3EEC-4ABE-8567-38527A6FDDA0}"/>
              </a:ext>
            </a:extLst>
          </p:cNvPr>
          <p:cNvSpPr txBox="1"/>
          <p:nvPr/>
        </p:nvSpPr>
        <p:spPr>
          <a:xfrm>
            <a:off x="1783492" y="2005913"/>
            <a:ext cx="2590800" cy="923330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CLSS</a:t>
            </a:r>
          </a:p>
          <a:p>
            <a:pPr algn="ctr"/>
            <a:r>
              <a:rPr lang="en-US" dirty="0"/>
              <a:t>Class Loader Sub system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B24BA2-2A54-0DE0-8EC7-1E47D6EF0A41}"/>
              </a:ext>
            </a:extLst>
          </p:cNvPr>
          <p:cNvSpPr txBox="1"/>
          <p:nvPr/>
        </p:nvSpPr>
        <p:spPr>
          <a:xfrm>
            <a:off x="7327556" y="2144411"/>
            <a:ext cx="2590800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GC</a:t>
            </a:r>
          </a:p>
          <a:p>
            <a:pPr algn="ctr"/>
            <a:r>
              <a:rPr lang="en-US" dirty="0"/>
              <a:t>Garbage Collector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52AA6D-692B-D4C6-C06F-4900B6873C37}"/>
              </a:ext>
            </a:extLst>
          </p:cNvPr>
          <p:cNvSpPr txBox="1"/>
          <p:nvPr/>
        </p:nvSpPr>
        <p:spPr>
          <a:xfrm>
            <a:off x="4809867" y="2144412"/>
            <a:ext cx="2082114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EE</a:t>
            </a:r>
          </a:p>
          <a:p>
            <a:pPr algn="ctr"/>
            <a:r>
              <a:rPr lang="en-US" dirty="0"/>
              <a:t>Execution Engine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CA0C2CAE-41A4-EBD7-E948-A8935C9A834A}"/>
              </a:ext>
            </a:extLst>
          </p:cNvPr>
          <p:cNvCxnSpPr>
            <a:stCxn id="5" idx="2"/>
            <a:endCxn id="8" idx="0"/>
          </p:cNvCxnSpPr>
          <p:nvPr/>
        </p:nvCxnSpPr>
        <p:spPr>
          <a:xfrm rot="5400000">
            <a:off x="5463834" y="1757320"/>
            <a:ext cx="774183" cy="1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5534B4D2-A34C-28BA-144A-1A43A65E6B1C}"/>
              </a:ext>
            </a:extLst>
          </p:cNvPr>
          <p:cNvCxnSpPr>
            <a:cxnSpLocks/>
            <a:endCxn id="6" idx="0"/>
          </p:cNvCxnSpPr>
          <p:nvPr/>
        </p:nvCxnSpPr>
        <p:spPr>
          <a:xfrm rot="10800000" flipV="1">
            <a:off x="3078892" y="1729945"/>
            <a:ext cx="2772032" cy="275967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2D1B5F66-A6B0-FD49-EA3C-4DD749DF55C9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5850924" y="1757320"/>
            <a:ext cx="2772032" cy="387091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F6B02B4-6855-AC3F-DC8B-4E17FC809BED}"/>
              </a:ext>
            </a:extLst>
          </p:cNvPr>
          <p:cNvSpPr txBox="1"/>
          <p:nvPr/>
        </p:nvSpPr>
        <p:spPr>
          <a:xfrm>
            <a:off x="3541240" y="3744093"/>
            <a:ext cx="2082114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Interpreter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44E96D-A356-04F4-C48C-6643FA0E98ED}"/>
              </a:ext>
            </a:extLst>
          </p:cNvPr>
          <p:cNvSpPr txBox="1"/>
          <p:nvPr/>
        </p:nvSpPr>
        <p:spPr>
          <a:xfrm>
            <a:off x="6552169" y="3756445"/>
            <a:ext cx="2082114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JIT Compiler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39C356CD-BA15-7717-014E-2E2B7C336101}"/>
              </a:ext>
            </a:extLst>
          </p:cNvPr>
          <p:cNvCxnSpPr>
            <a:stCxn id="8" idx="2"/>
            <a:endCxn id="16" idx="0"/>
          </p:cNvCxnSpPr>
          <p:nvPr/>
        </p:nvCxnSpPr>
        <p:spPr>
          <a:xfrm rot="16200000" flipH="1">
            <a:off x="6239224" y="2402443"/>
            <a:ext cx="965702" cy="1742302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68124765-D612-9CF9-0D8E-EC44AC3D9DEE}"/>
              </a:ext>
            </a:extLst>
          </p:cNvPr>
          <p:cNvCxnSpPr>
            <a:stCxn id="8" idx="2"/>
            <a:endCxn id="15" idx="0"/>
          </p:cNvCxnSpPr>
          <p:nvPr/>
        </p:nvCxnSpPr>
        <p:spPr>
          <a:xfrm rot="5400000">
            <a:off x="4739936" y="2633105"/>
            <a:ext cx="953350" cy="1268627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2097707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2B306-3824-0C47-42ED-88238BE99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52870-2F87-FD04-B5A4-D3BE64ED4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CLSS: Class loader subsystem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Loading .class files or code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Initialization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Linking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6792853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C1916-0E0F-5FB5-D610-73A3C2240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EE : Execution engine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CDA21-6680-36D8-E236-25603C5312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Byte code to machine understandable format</a:t>
            </a:r>
          </a:p>
          <a:p>
            <a:r>
              <a:rPr lang="en-US" dirty="0"/>
              <a:t>Interpreter : Bytecode to executable file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5029788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260D4-DF15-AE22-D8CA-FFA52E336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JIT Compiler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78A00-70F0-C4C8-46D4-D2F759213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JIT Compiler: Just in time compiler (looping)</a:t>
            </a:r>
          </a:p>
        </p:txBody>
      </p:sp>
    </p:spTree>
    <p:extLst>
      <p:ext uri="{BB962C8B-B14F-4D97-AF65-F5344CB8AC3E}">
        <p14:creationId xmlns:p14="http://schemas.microsoft.com/office/powerpoint/2010/main" val="426868806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AC746-D8DD-929B-BDC2-5C5DAF86A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GC : Garbage Collector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1306A0-D069-2850-B548-9F6AB2F20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Mark: identify</a:t>
            </a:r>
          </a:p>
          <a:p>
            <a:r>
              <a:rPr lang="en-US" dirty="0"/>
              <a:t>Sweep: Cleans or deallocate</a:t>
            </a:r>
          </a:p>
          <a:p>
            <a:r>
              <a:rPr lang="en-US" dirty="0"/>
              <a:t>By default, GC works background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Syntax:</a:t>
            </a:r>
          </a:p>
          <a:p>
            <a:pPr>
              <a:buFont typeface="Wingdings" pitchFamily="2" charset="2"/>
              <a:buChar char="Ø"/>
            </a:pPr>
            <a:r>
              <a:rPr lang="en-US" dirty="0" err="1"/>
              <a:t>System.gc</a:t>
            </a:r>
            <a:r>
              <a:rPr lang="en-US" dirty="0"/>
              <a:t>();</a:t>
            </a:r>
          </a:p>
          <a:p>
            <a:pPr>
              <a:buFont typeface="Wingdings" pitchFamily="2" charset="2"/>
              <a:buChar char="Ø"/>
            </a:pPr>
            <a:r>
              <a:rPr lang="en-US" dirty="0" err="1"/>
              <a:t>Runtime.gc</a:t>
            </a:r>
            <a:r>
              <a:rPr lang="en-US" dirty="0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161306878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AE622-1902-2913-B339-1B82351BF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79541-A49F-557B-E188-D6EE0AD912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Java Memory Blocks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2BAB79-A6AB-4D54-51BA-6CAF549AEB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794708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C3B6C0B6-7609-93B4-C25C-711F8828CC2E}"/>
              </a:ext>
            </a:extLst>
          </p:cNvPr>
          <p:cNvSpPr/>
          <p:nvPr/>
        </p:nvSpPr>
        <p:spPr>
          <a:xfrm>
            <a:off x="980302" y="172995"/>
            <a:ext cx="10231395" cy="651201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73EF2FE-A25D-6483-4A0D-AD8E7EC79F52}"/>
              </a:ext>
            </a:extLst>
          </p:cNvPr>
          <p:cNvSpPr txBox="1"/>
          <p:nvPr/>
        </p:nvSpPr>
        <p:spPr>
          <a:xfrm>
            <a:off x="1301577" y="3105835"/>
            <a:ext cx="1643452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/>
          </a:lstStyle>
          <a:p>
            <a:r>
              <a:rPr lang="en-US" dirty="0"/>
              <a:t>Java Memory Blocks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57E772-8F9E-EC27-2464-FCD411D94F0D}"/>
              </a:ext>
            </a:extLst>
          </p:cNvPr>
          <p:cNvSpPr txBox="1"/>
          <p:nvPr/>
        </p:nvSpPr>
        <p:spPr>
          <a:xfrm>
            <a:off x="3785287" y="917727"/>
            <a:ext cx="1687043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/>
          </a:lstStyle>
          <a:p>
            <a:r>
              <a:rPr lang="en-US" dirty="0"/>
              <a:t>Class Area/ Method Area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6A8297-2A5C-2033-E723-A1B9F06DDDBD}"/>
              </a:ext>
            </a:extLst>
          </p:cNvPr>
          <p:cNvSpPr txBox="1"/>
          <p:nvPr/>
        </p:nvSpPr>
        <p:spPr>
          <a:xfrm>
            <a:off x="3785286" y="2200794"/>
            <a:ext cx="2471351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Heap area (Dynamic memory allocation)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C777E-B5B8-47C2-3F16-37B6D61FF2F9}"/>
              </a:ext>
            </a:extLst>
          </p:cNvPr>
          <p:cNvSpPr txBox="1"/>
          <p:nvPr/>
        </p:nvSpPr>
        <p:spPr>
          <a:xfrm>
            <a:off x="3774603" y="4101675"/>
            <a:ext cx="1800352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Java Stack area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AF4BA9-0517-F542-3BA5-B0DE237881C3}"/>
              </a:ext>
            </a:extLst>
          </p:cNvPr>
          <p:cNvSpPr txBox="1"/>
          <p:nvPr/>
        </p:nvSpPr>
        <p:spPr>
          <a:xfrm>
            <a:off x="3785286" y="5544694"/>
            <a:ext cx="2973858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String Constant pool Area (SCPA)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855552-2F3A-9B82-1AE3-DF231C89F65C}"/>
              </a:ext>
            </a:extLst>
          </p:cNvPr>
          <p:cNvSpPr txBox="1"/>
          <p:nvPr/>
        </p:nvSpPr>
        <p:spPr>
          <a:xfrm>
            <a:off x="8538516" y="640729"/>
            <a:ext cx="2224215" cy="1200329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/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.class files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Static variables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Static blocks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Static methods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D2EE76-5E94-5954-2971-CD8A69EA6A21}"/>
              </a:ext>
            </a:extLst>
          </p:cNvPr>
          <p:cNvSpPr txBox="1"/>
          <p:nvPr/>
        </p:nvSpPr>
        <p:spPr>
          <a:xfrm>
            <a:off x="8538516" y="2201787"/>
            <a:ext cx="2224215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Font typeface="Arial" panose="020B0604020202020204" pitchFamily="34" charset="0"/>
              <a:buChar char="•"/>
            </a:lvl1pPr>
          </a:lstStyle>
          <a:p>
            <a:r>
              <a:rPr lang="en-US" dirty="0"/>
              <a:t>Objects</a:t>
            </a:r>
          </a:p>
          <a:p>
            <a:r>
              <a:rPr lang="en-US"/>
              <a:t>Arrays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F83D14-A8B5-1EA9-5CB6-60E60BBEBC52}"/>
              </a:ext>
            </a:extLst>
          </p:cNvPr>
          <p:cNvSpPr txBox="1"/>
          <p:nvPr/>
        </p:nvSpPr>
        <p:spPr>
          <a:xfrm>
            <a:off x="8538516" y="3272962"/>
            <a:ext cx="2224215" cy="203132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Font typeface="Arial" panose="020B0604020202020204" pitchFamily="34" charset="0"/>
              <a:buChar char="•"/>
            </a:lvl1pPr>
          </a:lstStyle>
          <a:p>
            <a:r>
              <a:rPr lang="en-US" dirty="0"/>
              <a:t>Local declarations</a:t>
            </a:r>
          </a:p>
          <a:p>
            <a:r>
              <a:rPr lang="en-US" dirty="0"/>
              <a:t>Expressions</a:t>
            </a:r>
          </a:p>
          <a:p>
            <a:r>
              <a:rPr lang="en-US" dirty="0"/>
              <a:t>Local variables</a:t>
            </a:r>
          </a:p>
          <a:p>
            <a:r>
              <a:rPr lang="en-US" dirty="0"/>
              <a:t>Current running Logic /code (loops)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A2C2F-8FF2-B8EE-2F76-DD35E0C19E93}"/>
              </a:ext>
            </a:extLst>
          </p:cNvPr>
          <p:cNvSpPr txBox="1"/>
          <p:nvPr/>
        </p:nvSpPr>
        <p:spPr>
          <a:xfrm>
            <a:off x="8538516" y="5544695"/>
            <a:ext cx="2224215" cy="64633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Only String Literals</a:t>
            </a:r>
          </a:p>
        </p:txBody>
      </p: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7B24D591-3F17-7D22-5CA5-B6A8B0B56060}"/>
              </a:ext>
            </a:extLst>
          </p:cNvPr>
          <p:cNvCxnSpPr>
            <a:stCxn id="3" idx="3"/>
            <a:endCxn id="9" idx="1"/>
          </p:cNvCxnSpPr>
          <p:nvPr/>
        </p:nvCxnSpPr>
        <p:spPr>
          <a:xfrm>
            <a:off x="5472330" y="1240893"/>
            <a:ext cx="3066186" cy="1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4EFE52DE-2BBE-0868-9F2E-6851AFA7EF70}"/>
              </a:ext>
            </a:extLst>
          </p:cNvPr>
          <p:cNvCxnSpPr>
            <a:cxnSpLocks/>
            <a:stCxn id="5" idx="3"/>
            <a:endCxn id="10" idx="1"/>
          </p:cNvCxnSpPr>
          <p:nvPr/>
        </p:nvCxnSpPr>
        <p:spPr>
          <a:xfrm>
            <a:off x="6256637" y="2523960"/>
            <a:ext cx="2281879" cy="993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F1D652C1-7E9C-8E18-09E0-08F4747F29C5}"/>
              </a:ext>
            </a:extLst>
          </p:cNvPr>
          <p:cNvCxnSpPr>
            <a:stCxn id="6" idx="3"/>
            <a:endCxn id="11" idx="1"/>
          </p:cNvCxnSpPr>
          <p:nvPr/>
        </p:nvCxnSpPr>
        <p:spPr>
          <a:xfrm>
            <a:off x="5574955" y="4286341"/>
            <a:ext cx="2963561" cy="2284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F169E72-E145-2ECA-6472-03C4DDF6ACC7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6759144" y="5867860"/>
            <a:ext cx="1779372" cy="1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C19C53EE-22B3-696D-9F99-E7309DC00838}"/>
              </a:ext>
            </a:extLst>
          </p:cNvPr>
          <p:cNvCxnSpPr>
            <a:stCxn id="2" idx="3"/>
            <a:endCxn id="3" idx="1"/>
          </p:cNvCxnSpPr>
          <p:nvPr/>
        </p:nvCxnSpPr>
        <p:spPr>
          <a:xfrm flipV="1">
            <a:off x="2945029" y="1240893"/>
            <a:ext cx="840258" cy="2188108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BA8060C6-2EC4-0885-EC39-7889E9011A47}"/>
              </a:ext>
            </a:extLst>
          </p:cNvPr>
          <p:cNvCxnSpPr>
            <a:stCxn id="2" idx="3"/>
            <a:endCxn id="7" idx="1"/>
          </p:cNvCxnSpPr>
          <p:nvPr/>
        </p:nvCxnSpPr>
        <p:spPr>
          <a:xfrm>
            <a:off x="2945029" y="3429001"/>
            <a:ext cx="840257" cy="2438859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BC2E6AD0-AB8A-AFA7-9AE4-95C770B32F5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2945029" y="2523960"/>
            <a:ext cx="840257" cy="905041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F547B561-9661-A874-7F07-3495D1C48560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2945029" y="3429001"/>
            <a:ext cx="829574" cy="857340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239604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EBBF5-0431-8455-C808-E14D469091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Structure of Java Programs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135943-44B8-C13F-4A5E-7820F592961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255509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17F52-D1DA-DB87-36B6-F6CE53FEA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46E8CB-DE4B-422A-BC48-8AFAA7B81C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Documentation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Package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Import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Class or interface</a:t>
            </a:r>
          </a:p>
        </p:txBody>
      </p:sp>
    </p:spTree>
    <p:extLst>
      <p:ext uri="{BB962C8B-B14F-4D97-AF65-F5344CB8AC3E}">
        <p14:creationId xmlns:p14="http://schemas.microsoft.com/office/powerpoint/2010/main" val="1866357676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D1D66-3AA0-91CA-49B2-AA4AEA123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1.Documentation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2193A-9C82-3CAC-9B3C-B956693731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Known as Comments</a:t>
            </a:r>
          </a:p>
          <a:p>
            <a:r>
              <a:rPr lang="en-US" dirty="0"/>
              <a:t>“ // ”           used for Single line Comments</a:t>
            </a:r>
          </a:p>
          <a:p>
            <a:r>
              <a:rPr lang="en-US" dirty="0"/>
              <a:t>/* Multiline Comment */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2F1ECADF-B878-EB8C-BEE7-1C4DE9852280}"/>
              </a:ext>
            </a:extLst>
          </p:cNvPr>
          <p:cNvSpPr/>
          <p:nvPr/>
        </p:nvSpPr>
        <p:spPr>
          <a:xfrm>
            <a:off x="2075163" y="2638554"/>
            <a:ext cx="469557" cy="185352"/>
          </a:xfrm>
          <a:prstGeom prst="rightArrow">
            <a:avLst/>
          </a:prstGeom>
          <a:solidFill>
            <a:srgbClr val="0070C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3109932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D937A-1BA6-54E9-BBB6-D5B1EF658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package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5F748-48F9-933B-BD33-BA3199F74EB7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rgbClr val="0070C0"/>
            </a:solidFill>
          </a:ln>
        </p:spPr>
        <p:txBody>
          <a:bodyPr/>
          <a:lstStyle/>
          <a:p>
            <a:r>
              <a:rPr lang="en-US" dirty="0"/>
              <a:t>It is similar to folder</a:t>
            </a:r>
          </a:p>
          <a:p>
            <a:r>
              <a:rPr lang="en-US" dirty="0"/>
              <a:t>Syntax: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Single level Package:  </a:t>
            </a:r>
            <a:r>
              <a:rPr lang="en-US" dirty="0"/>
              <a:t>Package </a:t>
            </a:r>
            <a:r>
              <a:rPr lang="en-US" dirty="0" err="1"/>
              <a:t>package_name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Multilevel Package:  </a:t>
            </a:r>
            <a:r>
              <a:rPr lang="en-US" dirty="0"/>
              <a:t>Package package1.package2;</a:t>
            </a:r>
          </a:p>
          <a:p>
            <a:pPr marL="0" indent="0">
              <a:buNone/>
            </a:pPr>
            <a:r>
              <a:rPr lang="en-US" b="1" dirty="0" err="1">
                <a:solidFill>
                  <a:srgbClr val="FF0000"/>
                </a:solidFill>
              </a:rPr>
              <a:t>Nameing</a:t>
            </a:r>
            <a:r>
              <a:rPr lang="en-US" b="1" dirty="0">
                <a:solidFill>
                  <a:srgbClr val="FF0000"/>
                </a:solidFill>
              </a:rPr>
              <a:t> rule</a:t>
            </a:r>
            <a:r>
              <a:rPr lang="en-US" dirty="0"/>
              <a:t>: Recommended to use Lower Case</a:t>
            </a:r>
          </a:p>
          <a:p>
            <a:pPr marL="0" indent="0">
              <a:buNone/>
            </a:pPr>
            <a:r>
              <a:rPr lang="en-IN" dirty="0"/>
              <a:t>** package statement is the First &amp; Must statement of program.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349F9D-9067-D7A9-A1A3-2C81DD1960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713" y="4694490"/>
            <a:ext cx="8199938" cy="1235607"/>
          </a:xfrm>
          <a:prstGeom prst="rect">
            <a:avLst/>
          </a:prstGeom>
          <a:ln>
            <a:solidFill>
              <a:srgbClr val="0070C0"/>
            </a:solidFill>
          </a:ln>
        </p:spPr>
      </p:pic>
    </p:spTree>
    <p:extLst>
      <p:ext uri="{BB962C8B-B14F-4D97-AF65-F5344CB8AC3E}">
        <p14:creationId xmlns:p14="http://schemas.microsoft.com/office/powerpoint/2010/main" val="3523266634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D8207-05D3-2732-0771-D3E8A98D6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import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6CD9F-DA88-0DD9-2D00-BFB09FB8F2D1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rgbClr val="0070C0"/>
            </a:solidFill>
          </a:ln>
        </p:spPr>
        <p:txBody>
          <a:bodyPr/>
          <a:lstStyle/>
          <a:p>
            <a:r>
              <a:rPr lang="en-IN" dirty="0"/>
              <a:t>Used to access the external Packages or particular class or method</a:t>
            </a:r>
          </a:p>
          <a:p>
            <a:r>
              <a:rPr lang="en-IN" b="1" dirty="0">
                <a:solidFill>
                  <a:srgbClr val="FF0000"/>
                </a:solidFill>
              </a:rPr>
              <a:t>Syntax:</a:t>
            </a:r>
          </a:p>
          <a:p>
            <a:pPr marL="0" indent="0">
              <a:buNone/>
            </a:pPr>
            <a:r>
              <a:rPr lang="en-IN" dirty="0"/>
              <a:t>import </a:t>
            </a:r>
            <a:r>
              <a:rPr lang="en-IN" dirty="0" err="1"/>
              <a:t>package_name</a:t>
            </a:r>
            <a:r>
              <a:rPr lang="en-IN" dirty="0"/>
              <a:t>.*;  =&gt; imports complete package </a:t>
            </a:r>
            <a:r>
              <a:rPr lang="en-IN" dirty="0">
                <a:solidFill>
                  <a:srgbClr val="FF0000"/>
                </a:solidFill>
              </a:rPr>
              <a:t>not preferred</a:t>
            </a:r>
          </a:p>
          <a:p>
            <a:pPr marL="0" indent="0">
              <a:buNone/>
            </a:pPr>
            <a:r>
              <a:rPr lang="en-IN" dirty="0"/>
              <a:t>import </a:t>
            </a:r>
            <a:r>
              <a:rPr lang="en-IN" dirty="0" err="1"/>
              <a:t>package_name.class_name</a:t>
            </a:r>
            <a:r>
              <a:rPr lang="en-IN" dirty="0"/>
              <a:t>;  =&gt; </a:t>
            </a:r>
            <a:r>
              <a:rPr lang="en-IN" dirty="0">
                <a:solidFill>
                  <a:srgbClr val="FF0000"/>
                </a:solidFill>
              </a:rPr>
              <a:t>preferred</a:t>
            </a:r>
          </a:p>
          <a:p>
            <a:pPr marL="0" indent="0">
              <a:buNone/>
            </a:pPr>
            <a:r>
              <a:rPr lang="en-IN" dirty="0"/>
              <a:t>** </a:t>
            </a:r>
            <a:r>
              <a:rPr lang="en-IN" dirty="0" err="1"/>
              <a:t>Java.lang</a:t>
            </a:r>
            <a:r>
              <a:rPr lang="en-IN" dirty="0"/>
              <a:t> is default and universal package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161312-10F8-05E5-4CB5-54AC3E7DE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8625" y="4503736"/>
            <a:ext cx="9058992" cy="968375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2305941865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C9591-1B96-6235-35C3-C66B26246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266825"/>
          </a:xfrm>
          <a:ln>
            <a:noFill/>
          </a:ln>
        </p:spPr>
        <p:txBody>
          <a:bodyPr/>
          <a:lstStyle/>
          <a:p>
            <a:r>
              <a:rPr lang="en-IN" b="1" dirty="0"/>
              <a:t>4. Class or interface 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5EFAF-CE0E-4F3F-97F5-4897E786A5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1751457"/>
            <a:ext cx="10058400" cy="4420743"/>
          </a:xfrm>
          <a:ln>
            <a:solidFill>
              <a:srgbClr val="0070C0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1800" b="1" dirty="0"/>
              <a:t>Recommendation: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1800" b="1" dirty="0"/>
              <a:t>one</a:t>
            </a:r>
            <a:r>
              <a:rPr lang="en-IN" sz="1800" dirty="0"/>
              <a:t> class is recommended for </a:t>
            </a:r>
            <a:r>
              <a:rPr lang="en-IN" sz="1800" b="1" dirty="0"/>
              <a:t>one</a:t>
            </a:r>
            <a:r>
              <a:rPr lang="en-IN" sz="1800" dirty="0"/>
              <a:t> file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1800" b="1" dirty="0">
                <a:solidFill>
                  <a:srgbClr val="FF0000"/>
                </a:solidFill>
              </a:rPr>
              <a:t>Cannot </a:t>
            </a:r>
            <a:r>
              <a:rPr lang="en-IN" sz="1800" dirty="0"/>
              <a:t>create class data inside another class</a:t>
            </a:r>
          </a:p>
          <a:p>
            <a:pPr marL="0" indent="0">
              <a:buNone/>
            </a:pPr>
            <a:r>
              <a:rPr lang="en-IN" sz="1800" b="1" dirty="0"/>
              <a:t>Syntax:</a:t>
            </a:r>
          </a:p>
          <a:p>
            <a:pPr marL="0" indent="0">
              <a:buNone/>
            </a:pPr>
            <a:r>
              <a:rPr lang="en-IN" sz="1800" dirty="0"/>
              <a:t>Access-Specifier Access-modifier </a:t>
            </a:r>
            <a:r>
              <a:rPr lang="en-IN" sz="1800" b="1" dirty="0"/>
              <a:t>class </a:t>
            </a:r>
            <a:r>
              <a:rPr lang="en-IN" sz="1800" dirty="0" err="1"/>
              <a:t>ClassName</a:t>
            </a:r>
            <a:endParaRPr lang="en-IN" sz="1800" dirty="0"/>
          </a:p>
          <a:p>
            <a:pPr marL="0" indent="0">
              <a:buNone/>
            </a:pPr>
            <a:r>
              <a:rPr lang="en-IN" sz="1800" dirty="0"/>
              <a:t>{    //Variable</a:t>
            </a:r>
          </a:p>
          <a:p>
            <a:pPr marL="0" indent="0">
              <a:buNone/>
            </a:pPr>
            <a:r>
              <a:rPr lang="en-IN" sz="1800" dirty="0"/>
              <a:t>//method. }</a:t>
            </a:r>
          </a:p>
          <a:p>
            <a:r>
              <a:rPr lang="en-IN" sz="1800" b="1" dirty="0"/>
              <a:t>Access-Specifier: </a:t>
            </a:r>
            <a:r>
              <a:rPr lang="en-IN" sz="1800" dirty="0"/>
              <a:t>public, private, protected &lt;default&gt;</a:t>
            </a:r>
          </a:p>
          <a:p>
            <a:r>
              <a:rPr lang="en-IN" sz="1800" b="1" dirty="0"/>
              <a:t>Access-Modifier:  </a:t>
            </a:r>
            <a:r>
              <a:rPr lang="en-IN" sz="1800" dirty="0"/>
              <a:t>It explains about behaviour static/final/abstract/&lt;default&gt; or unspecified /volatile/transient</a:t>
            </a:r>
          </a:p>
          <a:p>
            <a:pPr marL="0" indent="0">
              <a:buNone/>
            </a:pPr>
            <a:endParaRPr lang="en-IN" sz="1800" dirty="0"/>
          </a:p>
          <a:p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1742C4-B8D3-6087-DF97-1C85840A37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3225" y="1951482"/>
            <a:ext cx="4229100" cy="1905000"/>
          </a:xfrm>
          <a:prstGeom prst="rect">
            <a:avLst/>
          </a:prstGeom>
          <a:ln>
            <a:solidFill>
              <a:srgbClr val="0070C0"/>
            </a:solidFill>
          </a:ln>
        </p:spPr>
      </p:pic>
    </p:spTree>
    <p:extLst>
      <p:ext uri="{BB962C8B-B14F-4D97-AF65-F5344CB8AC3E}">
        <p14:creationId xmlns:p14="http://schemas.microsoft.com/office/powerpoint/2010/main" val="1688344226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74DDF-AAD3-1F02-DAA7-A23342D9F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83977A-5D6F-3E19-3E62-19464EB4F812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chemeClr val="accent2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i="1" dirty="0">
                <a:solidFill>
                  <a:srgbClr val="FF0000"/>
                </a:solidFill>
              </a:rPr>
              <a:t>Compiler checks about grammatical mistakes of java program</a:t>
            </a:r>
            <a:endParaRPr lang="en-IN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IN" b="1" dirty="0"/>
              <a:t>Main method:</a:t>
            </a:r>
            <a:endParaRPr lang="en-IN" dirty="0"/>
          </a:p>
          <a:p>
            <a:r>
              <a:rPr lang="en-IN" dirty="0"/>
              <a:t>It is used to start execution.</a:t>
            </a:r>
          </a:p>
          <a:p>
            <a:r>
              <a:rPr lang="en-IN" dirty="0"/>
              <a:t>One main method is required/enough to run complete Program</a:t>
            </a:r>
          </a:p>
          <a:p>
            <a:pPr marL="0" indent="0">
              <a:buNone/>
            </a:pPr>
            <a:r>
              <a:rPr lang="en-IN" b="1" dirty="0"/>
              <a:t>Syntax:</a:t>
            </a:r>
          </a:p>
          <a:p>
            <a:pPr marL="0" indent="0">
              <a:buNone/>
            </a:pPr>
            <a:r>
              <a:rPr lang="en-IN" dirty="0"/>
              <a:t>Access-specifier access-modifier return-type </a:t>
            </a:r>
            <a:r>
              <a:rPr lang="en-IN" dirty="0" err="1"/>
              <a:t>methodname</a:t>
            </a:r>
            <a:r>
              <a:rPr lang="en-IN" dirty="0"/>
              <a:t> (variable)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Only </a:t>
            </a:r>
            <a:r>
              <a:rPr lang="en-IN" b="1" dirty="0"/>
              <a:t>1 main </a:t>
            </a:r>
            <a:r>
              <a:rPr lang="en-IN" dirty="0"/>
              <a:t>method should be allowed in class file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481E82-86BE-CB1A-F303-F12776A2E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693" y="4688731"/>
            <a:ext cx="6762395" cy="667039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2344093781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30E11-607D-7EE4-B7E1-96242875C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072706"/>
          </a:xfrm>
        </p:spPr>
        <p:txBody>
          <a:bodyPr/>
          <a:lstStyle/>
          <a:p>
            <a:r>
              <a:rPr lang="en-US" dirty="0"/>
              <a:t>Naming Convention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9576-457A-1814-E8B4-7BB87DA3E2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IN" b="1" dirty="0"/>
              <a:t>packages:  </a:t>
            </a:r>
            <a:r>
              <a:rPr lang="en-IN" dirty="0"/>
              <a:t>all alphabets be </a:t>
            </a:r>
            <a:r>
              <a:rPr lang="en-IN" b="1" dirty="0">
                <a:solidFill>
                  <a:srgbClr val="FF0000"/>
                </a:solidFill>
              </a:rPr>
              <a:t>lowercase</a:t>
            </a:r>
            <a:r>
              <a:rPr lang="en-IN" dirty="0"/>
              <a:t> is recommended </a:t>
            </a:r>
          </a:p>
          <a:p>
            <a:pPr marL="457200" indent="-457200">
              <a:buFont typeface="+mj-lt"/>
              <a:buAutoNum type="arabicPeriod"/>
            </a:pPr>
            <a:endParaRPr lang="en-IN" dirty="0"/>
          </a:p>
          <a:p>
            <a:pPr>
              <a:buFont typeface="Wingdings" pitchFamily="2" charset="2"/>
              <a:buChar char="Ø"/>
            </a:pPr>
            <a:r>
              <a:rPr lang="en-IN" b="1" dirty="0"/>
              <a:t> Class &amp; interfaces &amp; Constructor method: </a:t>
            </a:r>
            <a:r>
              <a:rPr lang="en-IN" b="1" i="1" dirty="0">
                <a:solidFill>
                  <a:srgbClr val="FF0000"/>
                </a:solidFill>
              </a:rPr>
              <a:t>Title casing </a:t>
            </a:r>
            <a:r>
              <a:rPr lang="en-IN" dirty="0"/>
              <a:t>is recommended.</a:t>
            </a:r>
          </a:p>
          <a:p>
            <a:pPr marL="0" indent="0">
              <a:buNone/>
            </a:pPr>
            <a:endParaRPr lang="en-IN" dirty="0"/>
          </a:p>
          <a:p>
            <a:pPr>
              <a:buFont typeface="Wingdings" pitchFamily="2" charset="2"/>
              <a:buChar char="Ø"/>
            </a:pPr>
            <a:r>
              <a:rPr lang="en-IN" b="1" dirty="0"/>
              <a:t> Method &amp; Variable &amp; abstract Method : </a:t>
            </a:r>
            <a:r>
              <a:rPr lang="en-IN" b="1" dirty="0">
                <a:solidFill>
                  <a:srgbClr val="FF0000"/>
                </a:solidFill>
              </a:rPr>
              <a:t>Camel Casing</a:t>
            </a:r>
            <a:r>
              <a:rPr lang="en-IN" dirty="0"/>
              <a:t> is recommended.</a:t>
            </a:r>
          </a:p>
          <a:p>
            <a:pPr marL="0" indent="0">
              <a:buNone/>
            </a:pPr>
            <a:endParaRPr lang="en-IN" dirty="0"/>
          </a:p>
          <a:p>
            <a:pPr>
              <a:buFont typeface="Wingdings" pitchFamily="2" charset="2"/>
              <a:buChar char="Ø"/>
            </a:pPr>
            <a:r>
              <a:rPr lang="en-IN" b="1" dirty="0"/>
              <a:t> Constant : </a:t>
            </a:r>
            <a:r>
              <a:rPr lang="en-IN" dirty="0"/>
              <a:t>all letters to be </a:t>
            </a:r>
            <a:r>
              <a:rPr lang="en-IN" b="1" dirty="0">
                <a:solidFill>
                  <a:srgbClr val="FF0000"/>
                </a:solidFill>
              </a:rPr>
              <a:t>Uppercase</a:t>
            </a:r>
            <a:r>
              <a:rPr lang="en-IN" b="1" dirty="0"/>
              <a:t> </a:t>
            </a:r>
            <a:r>
              <a:rPr lang="en-IN" dirty="0"/>
              <a:t>and multiple words separated by underscore. (Eg: MY_CONSTANT)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CF3753-3753-166A-96CE-F48F6C2EC6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086" y="2569030"/>
            <a:ext cx="2489200" cy="304800"/>
          </a:xfrm>
          <a:prstGeom prst="rect">
            <a:avLst/>
          </a:prstGeom>
          <a:ln>
            <a:solidFill>
              <a:schemeClr val="accent2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543CB5E-2247-8FE5-3589-7E75C7CFA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886" y="3429000"/>
            <a:ext cx="2895600" cy="330200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2801879402"/>
      </p:ext>
    </p:extLst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03718-E5B0-181B-105E-F8D85747A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517C21-A413-4CD2-1EE4-E77E25E8B7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Its is reference to given to memory block</a:t>
            </a:r>
          </a:p>
          <a:p>
            <a:r>
              <a:rPr lang="en-US" dirty="0"/>
              <a:t>these are used to store data for reuse the value</a:t>
            </a:r>
          </a:p>
          <a:p>
            <a:r>
              <a:rPr lang="en-US" dirty="0"/>
              <a:t>It used to simplify the expression</a:t>
            </a:r>
          </a:p>
          <a:p>
            <a:pPr marL="0" indent="0">
              <a:buNone/>
            </a:pPr>
            <a:r>
              <a:rPr lang="en-US" b="1" dirty="0"/>
              <a:t>Syntax:</a:t>
            </a:r>
          </a:p>
          <a:p>
            <a:r>
              <a:rPr lang="en-US" dirty="0"/>
              <a:t>access-specifier access-modifier data-type </a:t>
            </a:r>
            <a:r>
              <a:rPr lang="en-US" dirty="0" err="1"/>
              <a:t>variableName</a:t>
            </a:r>
            <a:r>
              <a:rPr lang="en-US" dirty="0"/>
              <a:t> = value ;  </a:t>
            </a:r>
            <a:r>
              <a:rPr lang="en-US" dirty="0">
                <a:solidFill>
                  <a:srgbClr val="FF0000"/>
                </a:solidFill>
              </a:rPr>
              <a:t>declaration and assignment </a:t>
            </a:r>
          </a:p>
          <a:p>
            <a:r>
              <a:rPr lang="en-US" dirty="0"/>
              <a:t>access-specifier access-modifier data-type </a:t>
            </a:r>
            <a:r>
              <a:rPr lang="en-US" dirty="0" err="1"/>
              <a:t>variableName</a:t>
            </a:r>
            <a:r>
              <a:rPr lang="en-US" dirty="0"/>
              <a:t>; </a:t>
            </a:r>
            <a:r>
              <a:rPr lang="en-US" dirty="0">
                <a:solidFill>
                  <a:srgbClr val="FF0000"/>
                </a:solidFill>
              </a:rPr>
              <a:t>declaration</a:t>
            </a:r>
          </a:p>
        </p:txBody>
      </p:sp>
    </p:spTree>
    <p:extLst>
      <p:ext uri="{BB962C8B-B14F-4D97-AF65-F5344CB8AC3E}">
        <p14:creationId xmlns:p14="http://schemas.microsoft.com/office/powerpoint/2010/main" val="2944268394"/>
      </p:ext>
    </p:extLst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0467C62A-E932-541F-08E3-56E0168C7EF4}"/>
              </a:ext>
            </a:extLst>
          </p:cNvPr>
          <p:cNvSpPr/>
          <p:nvPr/>
        </p:nvSpPr>
        <p:spPr>
          <a:xfrm>
            <a:off x="205920" y="158313"/>
            <a:ext cx="11767460" cy="6302829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104CFC-6817-04EB-BFCA-325CC61BC501}"/>
              </a:ext>
            </a:extLst>
          </p:cNvPr>
          <p:cNvSpPr txBox="1"/>
          <p:nvPr/>
        </p:nvSpPr>
        <p:spPr>
          <a:xfrm>
            <a:off x="1338934" y="1443840"/>
            <a:ext cx="1284514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 variables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4BAEC-CF39-6AA1-EDC2-C689C7D80BCA}"/>
              </a:ext>
            </a:extLst>
          </p:cNvPr>
          <p:cNvSpPr txBox="1"/>
          <p:nvPr/>
        </p:nvSpPr>
        <p:spPr>
          <a:xfrm>
            <a:off x="5453743" y="469098"/>
            <a:ext cx="1284514" cy="3693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Variables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53170-ABF8-3AD7-5FAA-B8ACECCEF982}"/>
              </a:ext>
            </a:extLst>
          </p:cNvPr>
          <p:cNvSpPr txBox="1"/>
          <p:nvPr/>
        </p:nvSpPr>
        <p:spPr>
          <a:xfrm>
            <a:off x="9437920" y="1443840"/>
            <a:ext cx="1284514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Static variable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8A21CA-71CB-24EC-FFFE-B6C8CACE53B3}"/>
              </a:ext>
            </a:extLst>
          </p:cNvPr>
          <p:cNvSpPr txBox="1"/>
          <p:nvPr/>
        </p:nvSpPr>
        <p:spPr>
          <a:xfrm>
            <a:off x="5453743" y="1443840"/>
            <a:ext cx="1284514" cy="64633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Instance variable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A9F35D-AD27-DDFA-714F-27EB2FF64BA4}"/>
              </a:ext>
            </a:extLst>
          </p:cNvPr>
          <p:cNvSpPr txBox="1"/>
          <p:nvPr/>
        </p:nvSpPr>
        <p:spPr>
          <a:xfrm>
            <a:off x="315683" y="3106223"/>
            <a:ext cx="3331032" cy="203132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Declaration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inside Method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allocation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during method call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 java Stack area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Calling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style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variable name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Till end of method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41624F-C673-BC02-3463-0FD835E80581}"/>
              </a:ext>
            </a:extLst>
          </p:cNvPr>
          <p:cNvSpPr txBox="1"/>
          <p:nvPr/>
        </p:nvSpPr>
        <p:spPr>
          <a:xfrm>
            <a:off x="4299856" y="2967724"/>
            <a:ext cx="3516087" cy="2308324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Declaration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inside class &amp; outside Method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allocation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instance /object creation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 Heap area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Calling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style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objectname.variable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Till last usage of object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29986F-C05F-9A88-74CE-688881D1BD44}"/>
              </a:ext>
            </a:extLst>
          </p:cNvPr>
          <p:cNvSpPr txBox="1"/>
          <p:nvPr/>
        </p:nvSpPr>
        <p:spPr>
          <a:xfrm>
            <a:off x="8284030" y="2695581"/>
            <a:ext cx="3592287" cy="286232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Declaration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inside class &amp; outside Method having Static keyword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allocation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During class file loading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 Class area /method area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Calling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style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Classname.variable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Till end of program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C7E7E4A7-75EC-2E63-0505-763B2F0FB4C7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7785383" y="-850954"/>
            <a:ext cx="605410" cy="3984177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E072867E-2200-46F9-104E-B2797760ECCC}"/>
              </a:ext>
            </a:extLst>
          </p:cNvPr>
          <p:cNvCxnSpPr>
            <a:stCxn id="5" idx="2"/>
            <a:endCxn id="4" idx="0"/>
          </p:cNvCxnSpPr>
          <p:nvPr/>
        </p:nvCxnSpPr>
        <p:spPr>
          <a:xfrm rot="5400000">
            <a:off x="3735891" y="-916269"/>
            <a:ext cx="605410" cy="4114809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61DA90AF-40CB-A9A4-E57E-E7C99648225B}"/>
              </a:ext>
            </a:extLst>
          </p:cNvPr>
          <p:cNvCxnSpPr>
            <a:stCxn id="5" idx="2"/>
            <a:endCxn id="7" idx="0"/>
          </p:cNvCxnSpPr>
          <p:nvPr/>
        </p:nvCxnSpPr>
        <p:spPr>
          <a:xfrm rot="5400000">
            <a:off x="5793295" y="1141135"/>
            <a:ext cx="605410" cy="12700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076188D3-6EB7-3059-6CDF-B3563CAB9D05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rot="5400000">
            <a:off x="5638174" y="2509897"/>
            <a:ext cx="877553" cy="38100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B72163C-2CBC-EE68-51AF-B340761B6315}"/>
              </a:ext>
            </a:extLst>
          </p:cNvPr>
          <p:cNvCxnSpPr>
            <a:stCxn id="6" idx="2"/>
            <a:endCxn id="10" idx="0"/>
          </p:cNvCxnSpPr>
          <p:nvPr/>
        </p:nvCxnSpPr>
        <p:spPr>
          <a:xfrm rot="5400000">
            <a:off x="9777471" y="2392875"/>
            <a:ext cx="605410" cy="3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267E6D7E-95FE-B0D1-FFBA-56E47623EB52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16200000" flipH="1">
            <a:off x="1473169" y="2598193"/>
            <a:ext cx="1016052" cy="8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F4DAAB5-4EE2-A183-CA4A-39FFFD56B8BF}"/>
              </a:ext>
            </a:extLst>
          </p:cNvPr>
          <p:cNvSpPr txBox="1"/>
          <p:nvPr/>
        </p:nvSpPr>
        <p:spPr>
          <a:xfrm>
            <a:off x="2256976" y="5645769"/>
            <a:ext cx="7690747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when to choose static </a:t>
            </a:r>
          </a:p>
          <a:p>
            <a:r>
              <a:rPr lang="en-US" dirty="0">
                <a:solidFill>
                  <a:srgbClr val="FF0000"/>
                </a:solidFill>
              </a:rPr>
              <a:t>Note </a:t>
            </a:r>
            <a:r>
              <a:rPr lang="en-US" dirty="0"/>
              <a:t>: if you have some value that is common and can be shared across</a:t>
            </a:r>
          </a:p>
        </p:txBody>
      </p:sp>
    </p:spTree>
    <p:extLst>
      <p:ext uri="{BB962C8B-B14F-4D97-AF65-F5344CB8AC3E}">
        <p14:creationId xmlns:p14="http://schemas.microsoft.com/office/powerpoint/2010/main" val="2779807471"/>
      </p:ext>
    </p:extLst>
  </p:cSld>
  <p:clrMapOvr>
    <a:masterClrMapping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BEC975B-950F-9681-F7E6-A0EA349DB5E4}"/>
              </a:ext>
            </a:extLst>
          </p:cNvPr>
          <p:cNvSpPr txBox="1"/>
          <p:nvPr/>
        </p:nvSpPr>
        <p:spPr>
          <a:xfrm>
            <a:off x="370116" y="3244334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Data 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4B41EC-FD34-85F2-5915-1A8315637CFD}"/>
              </a:ext>
            </a:extLst>
          </p:cNvPr>
          <p:cNvSpPr txBox="1"/>
          <p:nvPr/>
        </p:nvSpPr>
        <p:spPr>
          <a:xfrm>
            <a:off x="2193472" y="2038917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Primitive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DD1A60-9093-244E-1A4A-652668A28962}"/>
              </a:ext>
            </a:extLst>
          </p:cNvPr>
          <p:cNvSpPr txBox="1"/>
          <p:nvPr/>
        </p:nvSpPr>
        <p:spPr>
          <a:xfrm>
            <a:off x="2193472" y="4449752"/>
            <a:ext cx="187234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Non-Primitive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F055C4-9877-3E7D-5365-D44DBDFBED0E}"/>
              </a:ext>
            </a:extLst>
          </p:cNvPr>
          <p:cNvSpPr txBox="1"/>
          <p:nvPr/>
        </p:nvSpPr>
        <p:spPr>
          <a:xfrm>
            <a:off x="3962400" y="1283729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Boolean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FB681A-0B69-7743-DBC8-936D5C45D76F}"/>
              </a:ext>
            </a:extLst>
          </p:cNvPr>
          <p:cNvSpPr txBox="1"/>
          <p:nvPr/>
        </p:nvSpPr>
        <p:spPr>
          <a:xfrm>
            <a:off x="3962400" y="2875003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Numeric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D4A689-0438-C3B5-9890-8E545C7D019D}"/>
              </a:ext>
            </a:extLst>
          </p:cNvPr>
          <p:cNvSpPr txBox="1"/>
          <p:nvPr/>
        </p:nvSpPr>
        <p:spPr>
          <a:xfrm>
            <a:off x="5464628" y="2213321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Char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EC8237-C936-4A9D-9449-3D68919D6FC1}"/>
              </a:ext>
            </a:extLst>
          </p:cNvPr>
          <p:cNvSpPr txBox="1"/>
          <p:nvPr/>
        </p:nvSpPr>
        <p:spPr>
          <a:xfrm>
            <a:off x="5464628" y="3497136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integral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52493B-0AA9-AAAE-C9B2-72ABF65260F7}"/>
              </a:ext>
            </a:extLst>
          </p:cNvPr>
          <p:cNvSpPr txBox="1"/>
          <p:nvPr/>
        </p:nvSpPr>
        <p:spPr>
          <a:xfrm>
            <a:off x="6966857" y="4128507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Integer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764952-DDDD-D04A-09AF-009150B46FBC}"/>
              </a:ext>
            </a:extLst>
          </p:cNvPr>
          <p:cNvSpPr txBox="1"/>
          <p:nvPr/>
        </p:nvSpPr>
        <p:spPr>
          <a:xfrm>
            <a:off x="6966856" y="2731608"/>
            <a:ext cx="1502228" cy="646331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Floating point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B37697-0C49-9BEF-A8E0-72A53F6A97EE}"/>
              </a:ext>
            </a:extLst>
          </p:cNvPr>
          <p:cNvSpPr txBox="1"/>
          <p:nvPr/>
        </p:nvSpPr>
        <p:spPr>
          <a:xfrm>
            <a:off x="10091057" y="5132349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long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139D3C-57DC-9085-3563-02466852810B}"/>
              </a:ext>
            </a:extLst>
          </p:cNvPr>
          <p:cNvSpPr txBox="1"/>
          <p:nvPr/>
        </p:nvSpPr>
        <p:spPr>
          <a:xfrm>
            <a:off x="10091057" y="3389843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byte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4BCA15-56F7-485F-B7B0-E9187F08DB62}"/>
              </a:ext>
            </a:extLst>
          </p:cNvPr>
          <p:cNvSpPr txBox="1"/>
          <p:nvPr/>
        </p:nvSpPr>
        <p:spPr>
          <a:xfrm>
            <a:off x="10091057" y="3943841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short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59B7C8-91BB-A07A-0592-5D2B066543E6}"/>
              </a:ext>
            </a:extLst>
          </p:cNvPr>
          <p:cNvSpPr txBox="1"/>
          <p:nvPr/>
        </p:nvSpPr>
        <p:spPr>
          <a:xfrm>
            <a:off x="10091057" y="4538095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162CAA-17D1-27BC-4110-AF35085EADE6}"/>
              </a:ext>
            </a:extLst>
          </p:cNvPr>
          <p:cNvSpPr txBox="1"/>
          <p:nvPr/>
        </p:nvSpPr>
        <p:spPr>
          <a:xfrm>
            <a:off x="10091057" y="2651179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35A2BF-64F4-BE32-92B9-9F1B7716F9BB}"/>
              </a:ext>
            </a:extLst>
          </p:cNvPr>
          <p:cNvSpPr txBox="1"/>
          <p:nvPr/>
        </p:nvSpPr>
        <p:spPr>
          <a:xfrm>
            <a:off x="10091057" y="1984720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float</a:t>
            </a:r>
          </a:p>
        </p:txBody>
      </p: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78332399-4442-C40D-8814-3F12C7E3A763}"/>
              </a:ext>
            </a:extLst>
          </p:cNvPr>
          <p:cNvCxnSpPr>
            <a:stCxn id="4" idx="0"/>
            <a:endCxn id="5" idx="1"/>
          </p:cNvCxnSpPr>
          <p:nvPr/>
        </p:nvCxnSpPr>
        <p:spPr>
          <a:xfrm rot="5400000" flipH="1" flipV="1">
            <a:off x="1146976" y="2197838"/>
            <a:ext cx="1020751" cy="1072242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5A6EC547-3508-4467-3936-0320672FE34C}"/>
              </a:ext>
            </a:extLst>
          </p:cNvPr>
          <p:cNvCxnSpPr>
            <a:stCxn id="4" idx="2"/>
            <a:endCxn id="6" idx="1"/>
          </p:cNvCxnSpPr>
          <p:nvPr/>
        </p:nvCxnSpPr>
        <p:spPr>
          <a:xfrm rot="16200000" flipH="1">
            <a:off x="1146975" y="3587921"/>
            <a:ext cx="1020752" cy="1072242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8169A17D-53F9-1170-6F40-85DE7840C94B}"/>
              </a:ext>
            </a:extLst>
          </p:cNvPr>
          <p:cNvCxnSpPr>
            <a:stCxn id="5" idx="0"/>
            <a:endCxn id="7" idx="1"/>
          </p:cNvCxnSpPr>
          <p:nvPr/>
        </p:nvCxnSpPr>
        <p:spPr>
          <a:xfrm rot="5400000" flipH="1" flipV="1">
            <a:off x="3168232" y="1244749"/>
            <a:ext cx="570522" cy="101781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002C3755-4901-3121-95D5-FE5BFBD025F8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3127783" y="2225052"/>
            <a:ext cx="651420" cy="101781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5E478004-9138-12D4-4ED0-795083EE6BFA}"/>
              </a:ext>
            </a:extLst>
          </p:cNvPr>
          <p:cNvCxnSpPr>
            <a:stCxn id="8" idx="0"/>
            <a:endCxn id="9" idx="1"/>
          </p:cNvCxnSpPr>
          <p:nvPr/>
        </p:nvCxnSpPr>
        <p:spPr>
          <a:xfrm rot="5400000" flipH="1" flipV="1">
            <a:off x="4850563" y="2260938"/>
            <a:ext cx="477016" cy="75111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3F7C0C6C-EC8E-90D7-00E7-40959881424E}"/>
              </a:ext>
            </a:extLst>
          </p:cNvPr>
          <p:cNvCxnSpPr>
            <a:stCxn id="8" idx="2"/>
            <a:endCxn id="10" idx="1"/>
          </p:cNvCxnSpPr>
          <p:nvPr/>
        </p:nvCxnSpPr>
        <p:spPr>
          <a:xfrm rot="16200000" flipH="1">
            <a:off x="4870338" y="3087511"/>
            <a:ext cx="437467" cy="75111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4233B3FC-2C6F-0CE9-3D9D-0580C464D74D}"/>
              </a:ext>
            </a:extLst>
          </p:cNvPr>
          <p:cNvCxnSpPr>
            <a:stCxn id="10" idx="0"/>
            <a:endCxn id="12" idx="1"/>
          </p:cNvCxnSpPr>
          <p:nvPr/>
        </p:nvCxnSpPr>
        <p:spPr>
          <a:xfrm rot="5400000" flipH="1" flipV="1">
            <a:off x="6370118" y="2900398"/>
            <a:ext cx="442362" cy="75111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A37FD7C1-FE02-A299-6FBF-E9CCCE71A757}"/>
              </a:ext>
            </a:extLst>
          </p:cNvPr>
          <p:cNvCxnSpPr>
            <a:stCxn id="10" idx="2"/>
            <a:endCxn id="11" idx="1"/>
          </p:cNvCxnSpPr>
          <p:nvPr/>
        </p:nvCxnSpPr>
        <p:spPr>
          <a:xfrm rot="16200000" flipH="1">
            <a:off x="6367947" y="3714262"/>
            <a:ext cx="446705" cy="751115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E71128E8-93FE-BC41-4471-636127304DDA}"/>
              </a:ext>
            </a:extLst>
          </p:cNvPr>
          <p:cNvCxnSpPr>
            <a:cxnSpLocks/>
            <a:stCxn id="12" idx="3"/>
            <a:endCxn id="18" idx="1"/>
          </p:cNvCxnSpPr>
          <p:nvPr/>
        </p:nvCxnSpPr>
        <p:spPr>
          <a:xfrm flipV="1">
            <a:off x="8469084" y="2169386"/>
            <a:ext cx="1621973" cy="885388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9B2E478C-FD16-195E-F90F-4E42F9FB5380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 flipV="1">
            <a:off x="8469084" y="2835845"/>
            <a:ext cx="1621973" cy="21892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A4530521-86AF-641C-D104-3EEB5EE86F9F}"/>
              </a:ext>
            </a:extLst>
          </p:cNvPr>
          <p:cNvCxnSpPr>
            <a:stCxn id="11" idx="3"/>
            <a:endCxn id="14" idx="1"/>
          </p:cNvCxnSpPr>
          <p:nvPr/>
        </p:nvCxnSpPr>
        <p:spPr>
          <a:xfrm flipV="1">
            <a:off x="8469085" y="3574509"/>
            <a:ext cx="1621972" cy="738664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2D09A3DB-CA5A-7A5C-88B3-559E3525A378}"/>
              </a:ext>
            </a:extLst>
          </p:cNvPr>
          <p:cNvCxnSpPr>
            <a:stCxn id="11" idx="3"/>
            <a:endCxn id="15" idx="1"/>
          </p:cNvCxnSpPr>
          <p:nvPr/>
        </p:nvCxnSpPr>
        <p:spPr>
          <a:xfrm flipV="1">
            <a:off x="8469085" y="4128507"/>
            <a:ext cx="1621972" cy="184666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DF37D516-FB7C-CB8D-9160-BE40C46082F2}"/>
              </a:ext>
            </a:extLst>
          </p:cNvPr>
          <p:cNvCxnSpPr>
            <a:stCxn id="11" idx="3"/>
            <a:endCxn id="16" idx="1"/>
          </p:cNvCxnSpPr>
          <p:nvPr/>
        </p:nvCxnSpPr>
        <p:spPr>
          <a:xfrm>
            <a:off x="8469085" y="4313173"/>
            <a:ext cx="1621972" cy="409588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1DCF3BBB-8F84-58B7-6BAC-4F8DB3159B49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>
            <a:off x="8469085" y="4313173"/>
            <a:ext cx="1621972" cy="1003842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4181D3A-89EA-AC49-C806-7ADF02694E5E}"/>
              </a:ext>
            </a:extLst>
          </p:cNvPr>
          <p:cNvSpPr txBox="1"/>
          <p:nvPr/>
        </p:nvSpPr>
        <p:spPr>
          <a:xfrm>
            <a:off x="4835981" y="5405277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Arrays etc..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8B6E988-F78E-DC53-C8AB-BFD8972E2F01}"/>
              </a:ext>
            </a:extLst>
          </p:cNvPr>
          <p:cNvSpPr txBox="1"/>
          <p:nvPr/>
        </p:nvSpPr>
        <p:spPr>
          <a:xfrm>
            <a:off x="2944586" y="5405277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Strings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B46B317-FF74-3CF7-8C5F-A8C083513E51}"/>
              </a:ext>
            </a:extLst>
          </p:cNvPr>
          <p:cNvSpPr txBox="1"/>
          <p:nvPr/>
        </p:nvSpPr>
        <p:spPr>
          <a:xfrm>
            <a:off x="1053191" y="5405277"/>
            <a:ext cx="150222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Objects</a:t>
            </a:r>
          </a:p>
        </p:txBody>
      </p: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063CBE80-56F9-C857-2C24-7C963EADC78E}"/>
              </a:ext>
            </a:extLst>
          </p:cNvPr>
          <p:cNvCxnSpPr>
            <a:stCxn id="6" idx="2"/>
            <a:endCxn id="58" idx="0"/>
          </p:cNvCxnSpPr>
          <p:nvPr/>
        </p:nvCxnSpPr>
        <p:spPr>
          <a:xfrm rot="16200000" flipH="1">
            <a:off x="4065273" y="3883454"/>
            <a:ext cx="586193" cy="2457452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Elbow Connector 64">
            <a:extLst>
              <a:ext uri="{FF2B5EF4-FFF2-40B4-BE49-F238E27FC236}">
                <a16:creationId xmlns:a16="http://schemas.microsoft.com/office/drawing/2014/main" id="{D1BBD285-DF4A-EAF8-F57D-39849DDB5360}"/>
              </a:ext>
            </a:extLst>
          </p:cNvPr>
          <p:cNvCxnSpPr>
            <a:stCxn id="6" idx="2"/>
            <a:endCxn id="59" idx="0"/>
          </p:cNvCxnSpPr>
          <p:nvPr/>
        </p:nvCxnSpPr>
        <p:spPr>
          <a:xfrm rot="16200000" flipH="1">
            <a:off x="3119575" y="4829151"/>
            <a:ext cx="586193" cy="566057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B35504C1-05D3-F1BA-DEEB-979466C37B0A}"/>
              </a:ext>
            </a:extLst>
          </p:cNvPr>
          <p:cNvCxnSpPr>
            <a:stCxn id="6" idx="2"/>
            <a:endCxn id="61" idx="0"/>
          </p:cNvCxnSpPr>
          <p:nvPr/>
        </p:nvCxnSpPr>
        <p:spPr>
          <a:xfrm rot="5400000">
            <a:off x="2173878" y="4449511"/>
            <a:ext cx="586193" cy="1325338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41C4B-B385-5DA9-1934-BDB7E308190A}"/>
              </a:ext>
            </a:extLst>
          </p:cNvPr>
          <p:cNvSpPr txBox="1"/>
          <p:nvPr/>
        </p:nvSpPr>
        <p:spPr>
          <a:xfrm>
            <a:off x="1053190" y="359229"/>
            <a:ext cx="4879523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Primitive data types are 8 in number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9BA7ABC-5537-06F1-76AB-6537E19F6C21}"/>
              </a:ext>
            </a:extLst>
          </p:cNvPr>
          <p:cNvSpPr/>
          <p:nvPr/>
        </p:nvSpPr>
        <p:spPr>
          <a:xfrm>
            <a:off x="3129643" y="913226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1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2CF70476-AFF9-8A65-AA7A-0CC5CE05CA9B}"/>
              </a:ext>
            </a:extLst>
          </p:cNvPr>
          <p:cNvSpPr/>
          <p:nvPr/>
        </p:nvSpPr>
        <p:spPr>
          <a:xfrm>
            <a:off x="4751616" y="1820666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2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9A49781-773C-8C3F-4BFD-685167083930}"/>
              </a:ext>
            </a:extLst>
          </p:cNvPr>
          <p:cNvSpPr/>
          <p:nvPr/>
        </p:nvSpPr>
        <p:spPr>
          <a:xfrm>
            <a:off x="9350826" y="1608458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3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89244C3A-A36F-61E6-3A2E-B5FFA6E92954}"/>
              </a:ext>
            </a:extLst>
          </p:cNvPr>
          <p:cNvSpPr/>
          <p:nvPr/>
        </p:nvSpPr>
        <p:spPr>
          <a:xfrm>
            <a:off x="9350827" y="2316110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4</a:t>
            </a: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3F8D5A67-B9F8-21FD-6103-A14F75254B90}"/>
              </a:ext>
            </a:extLst>
          </p:cNvPr>
          <p:cNvSpPr/>
          <p:nvPr/>
        </p:nvSpPr>
        <p:spPr>
          <a:xfrm>
            <a:off x="9356270" y="3069222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5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205C5849-5817-8827-423D-C6DE06119DFF}"/>
              </a:ext>
            </a:extLst>
          </p:cNvPr>
          <p:cNvSpPr/>
          <p:nvPr/>
        </p:nvSpPr>
        <p:spPr>
          <a:xfrm>
            <a:off x="9356270" y="3642486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6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FD563A35-04A2-1FDB-9756-A22B380F7609}"/>
              </a:ext>
            </a:extLst>
          </p:cNvPr>
          <p:cNvSpPr/>
          <p:nvPr/>
        </p:nvSpPr>
        <p:spPr>
          <a:xfrm>
            <a:off x="9350826" y="4211211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7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8EEDAE8F-79B6-E155-1F5B-9C5D7DA920F9}"/>
              </a:ext>
            </a:extLst>
          </p:cNvPr>
          <p:cNvSpPr/>
          <p:nvPr/>
        </p:nvSpPr>
        <p:spPr>
          <a:xfrm>
            <a:off x="9339944" y="4828331"/>
            <a:ext cx="566057" cy="466755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0813799"/>
      </p:ext>
    </p:extLst>
  </p:cSld>
  <p:clrMapOvr>
    <a:masterClrMapping/>
  </p:clrMapOvr>
  <p:transition spd="slow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6A59F2A-BD11-A723-234D-3BEE827D01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6813396"/>
              </p:ext>
            </p:extLst>
          </p:nvPr>
        </p:nvGraphicFramePr>
        <p:xfrm>
          <a:off x="348342" y="578151"/>
          <a:ext cx="11495316" cy="3876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915886">
                  <a:extLst>
                    <a:ext uri="{9D8B030D-6E8A-4147-A177-3AD203B41FA5}">
                      <a16:colId xmlns:a16="http://schemas.microsoft.com/office/drawing/2014/main" val="2949308822"/>
                    </a:ext>
                  </a:extLst>
                </a:gridCol>
                <a:gridCol w="1915886">
                  <a:extLst>
                    <a:ext uri="{9D8B030D-6E8A-4147-A177-3AD203B41FA5}">
                      <a16:colId xmlns:a16="http://schemas.microsoft.com/office/drawing/2014/main" val="553465288"/>
                    </a:ext>
                  </a:extLst>
                </a:gridCol>
                <a:gridCol w="1915886">
                  <a:extLst>
                    <a:ext uri="{9D8B030D-6E8A-4147-A177-3AD203B41FA5}">
                      <a16:colId xmlns:a16="http://schemas.microsoft.com/office/drawing/2014/main" val="2173431467"/>
                    </a:ext>
                  </a:extLst>
                </a:gridCol>
                <a:gridCol w="1915886">
                  <a:extLst>
                    <a:ext uri="{9D8B030D-6E8A-4147-A177-3AD203B41FA5}">
                      <a16:colId xmlns:a16="http://schemas.microsoft.com/office/drawing/2014/main" val="1900124871"/>
                    </a:ext>
                  </a:extLst>
                </a:gridCol>
                <a:gridCol w="1915886">
                  <a:extLst>
                    <a:ext uri="{9D8B030D-6E8A-4147-A177-3AD203B41FA5}">
                      <a16:colId xmlns:a16="http://schemas.microsoft.com/office/drawing/2014/main" val="203445705"/>
                    </a:ext>
                  </a:extLst>
                </a:gridCol>
                <a:gridCol w="1915886">
                  <a:extLst>
                    <a:ext uri="{9D8B030D-6E8A-4147-A177-3AD203B41FA5}">
                      <a16:colId xmlns:a16="http://schemas.microsoft.com/office/drawing/2014/main" val="13479462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Data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Size(in bytes)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Syntax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Wraper</a:t>
                      </a:r>
                      <a:r>
                        <a:rPr lang="en-US" dirty="0"/>
                        <a:t> 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9165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byte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-128 to 127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byte a;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Byte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3599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-32768 to 32767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short a;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0801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-2147483648 to 2147483647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 a;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6956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long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-2^63 to 2^63 -1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long a;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Long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80396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float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Upto</a:t>
                      </a:r>
                      <a:r>
                        <a:rPr lang="en-US" dirty="0"/>
                        <a:t> 8 decimal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float a;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Float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77052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double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Upto</a:t>
                      </a:r>
                      <a:r>
                        <a:rPr lang="en-US" dirty="0"/>
                        <a:t> 13 decimals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double a: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Double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6277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Char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\u0000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char a;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Char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6364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true or false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boolean a;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0505093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CCE4F49-3B70-EB18-B735-C120B26D95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5633668"/>
              </p:ext>
            </p:extLst>
          </p:nvPr>
        </p:nvGraphicFramePr>
        <p:xfrm>
          <a:off x="874033" y="4933927"/>
          <a:ext cx="5113111" cy="598234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692830">
                  <a:extLst>
                    <a:ext uri="{9D8B030D-6E8A-4147-A177-3AD203B41FA5}">
                      <a16:colId xmlns:a16="http://schemas.microsoft.com/office/drawing/2014/main" val="2734716173"/>
                    </a:ext>
                  </a:extLst>
                </a:gridCol>
                <a:gridCol w="585447">
                  <a:extLst>
                    <a:ext uri="{9D8B030D-6E8A-4147-A177-3AD203B41FA5}">
                      <a16:colId xmlns:a16="http://schemas.microsoft.com/office/drawing/2014/main" val="1817602661"/>
                    </a:ext>
                  </a:extLst>
                </a:gridCol>
                <a:gridCol w="639139">
                  <a:extLst>
                    <a:ext uri="{9D8B030D-6E8A-4147-A177-3AD203B41FA5}">
                      <a16:colId xmlns:a16="http://schemas.microsoft.com/office/drawing/2014/main" val="2586743762"/>
                    </a:ext>
                  </a:extLst>
                </a:gridCol>
                <a:gridCol w="639139">
                  <a:extLst>
                    <a:ext uri="{9D8B030D-6E8A-4147-A177-3AD203B41FA5}">
                      <a16:colId xmlns:a16="http://schemas.microsoft.com/office/drawing/2014/main" val="1490595525"/>
                    </a:ext>
                  </a:extLst>
                </a:gridCol>
                <a:gridCol w="639139">
                  <a:extLst>
                    <a:ext uri="{9D8B030D-6E8A-4147-A177-3AD203B41FA5}">
                      <a16:colId xmlns:a16="http://schemas.microsoft.com/office/drawing/2014/main" val="2398417228"/>
                    </a:ext>
                  </a:extLst>
                </a:gridCol>
                <a:gridCol w="639139">
                  <a:extLst>
                    <a:ext uri="{9D8B030D-6E8A-4147-A177-3AD203B41FA5}">
                      <a16:colId xmlns:a16="http://schemas.microsoft.com/office/drawing/2014/main" val="815553519"/>
                    </a:ext>
                  </a:extLst>
                </a:gridCol>
                <a:gridCol w="639139">
                  <a:extLst>
                    <a:ext uri="{9D8B030D-6E8A-4147-A177-3AD203B41FA5}">
                      <a16:colId xmlns:a16="http://schemas.microsoft.com/office/drawing/2014/main" val="364918798"/>
                    </a:ext>
                  </a:extLst>
                </a:gridCol>
                <a:gridCol w="639139">
                  <a:extLst>
                    <a:ext uri="{9D8B030D-6E8A-4147-A177-3AD203B41FA5}">
                      <a16:colId xmlns:a16="http://schemas.microsoft.com/office/drawing/2014/main" val="264701904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Sign bit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 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69708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2223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2^6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2^5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2^4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2^3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2^2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2^1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2^0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9254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5015690"/>
      </p:ext>
    </p:extLst>
  </p:cSld>
  <p:clrMapOvr>
    <a:masterClrMapping/>
  </p:clrMapOvr>
  <p:transition spd="slow">
    <p:push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1C2CC-4469-A85C-87AC-39677C3C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A9364-A12C-585C-293B-8F7F525F9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dirty="0"/>
              <a:t>Type Mismatch :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Cannot convert int to byte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Cannot convert int to short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4766246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2D79D-9089-1BF9-5C46-0B7499E2D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854311"/>
          </a:xfrm>
        </p:spPr>
        <p:txBody>
          <a:bodyPr/>
          <a:lstStyle/>
          <a:p>
            <a:r>
              <a:rPr lang="en-US" dirty="0"/>
              <a:t>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826123-E3E5-28D7-0D12-5D3529FF2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1338943"/>
            <a:ext cx="10058400" cy="4833257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Contains Set of instructions to perform specific task or function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Advantages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Reusability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Code clarity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Avoids code redundancy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Length of code reduces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Easy debugging of program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Syntax</a:t>
            </a:r>
          </a:p>
          <a:p>
            <a:pPr marL="0" indent="0">
              <a:buNone/>
            </a:pPr>
            <a:r>
              <a:rPr lang="en-US" dirty="0"/>
              <a:t>access-specifier access-modifier return-type </a:t>
            </a:r>
            <a:r>
              <a:rPr lang="en-US" dirty="0" err="1"/>
              <a:t>methodName</a:t>
            </a:r>
            <a:r>
              <a:rPr lang="en-US" dirty="0"/>
              <a:t>(arguments)</a:t>
            </a:r>
          </a:p>
          <a:p>
            <a:pPr marL="0" indent="0">
              <a:buNone/>
            </a:pPr>
            <a:r>
              <a:rPr lang="en-US" dirty="0"/>
              <a:t>{</a:t>
            </a:r>
          </a:p>
          <a:p>
            <a:pPr marL="0" indent="0">
              <a:buNone/>
            </a:pPr>
            <a:r>
              <a:rPr lang="en-US" dirty="0"/>
              <a:t>//body of method </a:t>
            </a:r>
          </a:p>
          <a:p>
            <a:pPr marL="0" indent="0">
              <a:buNone/>
            </a:pPr>
            <a:r>
              <a:rPr lang="en-US" dirty="0"/>
              <a:t>local declarations;</a:t>
            </a:r>
          </a:p>
          <a:p>
            <a:pPr marL="0" indent="0">
              <a:buNone/>
            </a:pPr>
            <a:r>
              <a:rPr lang="en-US" dirty="0"/>
              <a:t>statements;</a:t>
            </a:r>
          </a:p>
          <a:p>
            <a:pPr marL="0" indent="0">
              <a:buNone/>
            </a:pPr>
            <a:r>
              <a:rPr lang="en-US" dirty="0"/>
              <a:t>return value;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Note : </a:t>
            </a:r>
            <a:r>
              <a:rPr lang="en-US" dirty="0"/>
              <a:t>return-type should be void if there is no need of return statement </a:t>
            </a:r>
          </a:p>
        </p:txBody>
      </p:sp>
    </p:spTree>
    <p:extLst>
      <p:ext uri="{BB962C8B-B14F-4D97-AF65-F5344CB8AC3E}">
        <p14:creationId xmlns:p14="http://schemas.microsoft.com/office/powerpoint/2010/main" val="337203690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9EA457-2944-DA29-F08D-AD2EC22B31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0600" y="393628"/>
            <a:ext cx="4754880" cy="640080"/>
          </a:xfrm>
          <a:ln>
            <a:solidFill>
              <a:srgbClr val="0070C0"/>
            </a:solidFill>
          </a:ln>
        </p:spPr>
        <p:txBody>
          <a:bodyPr/>
          <a:lstStyle/>
          <a:p>
            <a:pPr algn="ctr"/>
            <a:r>
              <a:rPr lang="en-US" dirty="0"/>
              <a:t>Non-Static/ Instance method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EEE7C4-B915-CDD1-6C58-181254550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93648" y="1088572"/>
            <a:ext cx="4754880" cy="3291840"/>
          </a:xfrm>
          <a:ln>
            <a:solidFill>
              <a:srgbClr val="0070C0"/>
            </a:solidFill>
          </a:ln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without static keyword (</a:t>
            </a:r>
            <a:r>
              <a:rPr lang="en-US" dirty="0">
                <a:solidFill>
                  <a:srgbClr val="FF0000"/>
                </a:solidFill>
              </a:rPr>
              <a:t>def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while creation of objects (</a:t>
            </a:r>
            <a:r>
              <a:rPr lang="en-US" dirty="0">
                <a:solidFill>
                  <a:srgbClr val="FF0000"/>
                </a:solidFill>
              </a:rPr>
              <a:t>when memory allocated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Heap Area (</a:t>
            </a:r>
            <a:r>
              <a:rPr lang="en-US" dirty="0">
                <a:solidFill>
                  <a:srgbClr val="FF0000"/>
                </a:solidFill>
              </a:rPr>
              <a:t>memory location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objectName.methodName</a:t>
            </a:r>
            <a:r>
              <a:rPr lang="en-US" dirty="0"/>
              <a:t> (</a:t>
            </a:r>
            <a:r>
              <a:rPr lang="en-US" dirty="0">
                <a:solidFill>
                  <a:srgbClr val="FF0000"/>
                </a:solidFill>
              </a:rPr>
              <a:t>calling style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till the last usage of object (</a:t>
            </a:r>
            <a:r>
              <a:rPr lang="en-US" dirty="0">
                <a:solidFill>
                  <a:srgbClr val="FF0000"/>
                </a:solidFill>
              </a:rPr>
              <a:t>scope</a:t>
            </a:r>
            <a:r>
              <a:rPr lang="en-US" dirty="0"/>
              <a:t>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66368EA-17D7-EC86-70C2-1D48DAD088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8024" y="393628"/>
            <a:ext cx="4754880" cy="640080"/>
          </a:xfrm>
          <a:ln>
            <a:solidFill>
              <a:srgbClr val="0070C0"/>
            </a:solidFill>
          </a:ln>
        </p:spPr>
        <p:txBody>
          <a:bodyPr/>
          <a:lstStyle/>
          <a:p>
            <a:pPr algn="ctr"/>
            <a:r>
              <a:rPr lang="en-US" dirty="0"/>
              <a:t>Static method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9B9087E-1C6D-DE2B-2039-109A59E164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88024" y="1088572"/>
            <a:ext cx="4754880" cy="3291840"/>
          </a:xfrm>
          <a:ln>
            <a:solidFill>
              <a:srgbClr val="0070C0"/>
            </a:solidFill>
          </a:ln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method with static keyword (</a:t>
            </a:r>
            <a:r>
              <a:rPr lang="en-US" dirty="0">
                <a:solidFill>
                  <a:srgbClr val="FF0000"/>
                </a:solidFill>
              </a:rPr>
              <a:t>def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.class file loading (</a:t>
            </a:r>
            <a:r>
              <a:rPr lang="en-US" dirty="0">
                <a:solidFill>
                  <a:srgbClr val="FF0000"/>
                </a:solidFill>
              </a:rPr>
              <a:t>when memory allocated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class Area / Method Area (</a:t>
            </a:r>
            <a:r>
              <a:rPr lang="en-US" dirty="0">
                <a:solidFill>
                  <a:srgbClr val="FF0000"/>
                </a:solidFill>
              </a:rPr>
              <a:t>memory location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ClassName.methodName</a:t>
            </a:r>
            <a:r>
              <a:rPr lang="en-US" dirty="0"/>
              <a:t> (</a:t>
            </a:r>
            <a:r>
              <a:rPr lang="en-US" dirty="0">
                <a:solidFill>
                  <a:srgbClr val="FF0000"/>
                </a:solidFill>
              </a:rPr>
              <a:t>calling style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till the end of program (</a:t>
            </a:r>
            <a:r>
              <a:rPr lang="en-US" dirty="0">
                <a:solidFill>
                  <a:srgbClr val="FF0000"/>
                </a:solidFill>
              </a:rPr>
              <a:t>scope</a:t>
            </a:r>
            <a:r>
              <a:rPr lang="en-US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8B6CCC-2A11-5671-9A2D-CEE08F0BEDFD}"/>
              </a:ext>
            </a:extLst>
          </p:cNvPr>
          <p:cNvSpPr txBox="1"/>
          <p:nvPr/>
        </p:nvSpPr>
        <p:spPr>
          <a:xfrm>
            <a:off x="1132114" y="4909457"/>
            <a:ext cx="70648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Points to remember for methods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arguments the method need or parameters to feed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is the return-type or what does the method returns you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does this method overall do 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995515"/>
      </p:ext>
    </p:extLst>
  </p:cSld>
  <p:clrMapOvr>
    <a:masterClrMapping/>
  </p:clrMapOvr>
  <p:transition spd="slow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BD7E8-0007-F515-12F6-E46F5F51D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40A04-F04A-537F-4F39-1597706D3E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No Return Type &amp; No arguments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No Return Type &amp; Has arguments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Has Return Type &amp; No arguments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Has Return Type &amp; Has arguments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0104306"/>
      </p:ext>
    </p:extLst>
  </p:cSld>
  <p:clrMapOvr>
    <a:masterClrMapping/>
  </p:clrMapOvr>
  <p:transition spd="slow">
    <p:push dir="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CBBF5-FBA2-2B71-9FF9-EA736820E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27A9A-BE74-7747-4118-203DD3106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Object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Class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Encapsulation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Polymorphism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Inheritance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Abstraction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1210882"/>
      </p:ext>
    </p:extLst>
  </p:cSld>
  <p:clrMapOvr>
    <a:masterClrMapping/>
  </p:clrMapOvr>
  <p:transition spd="slow">
    <p:push dir="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CA80E-5574-C998-9CA2-4F8CAF2A7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Object</a:t>
            </a:r>
            <a:r>
              <a:rPr lang="en-US" dirty="0"/>
              <a:t>: it is an instance of a class that represents an entity.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B3D51-A184-B8D6-268B-4C1990ADD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Characteristics of object: 3 in number</a:t>
            </a:r>
          </a:p>
          <a:p>
            <a:r>
              <a:rPr lang="en-US" u="sng" dirty="0"/>
              <a:t>State</a:t>
            </a:r>
            <a:r>
              <a:rPr lang="en-US" dirty="0"/>
              <a:t>: represents data or attributes of object (</a:t>
            </a:r>
            <a:r>
              <a:rPr lang="en-US" dirty="0" err="1"/>
              <a:t>eg</a:t>
            </a:r>
            <a:r>
              <a:rPr lang="en-US" dirty="0"/>
              <a:t>: Variables)</a:t>
            </a:r>
          </a:p>
          <a:p>
            <a:r>
              <a:rPr lang="en-US" u="sng" dirty="0"/>
              <a:t>Behavior </a:t>
            </a:r>
            <a:r>
              <a:rPr lang="en-US" dirty="0"/>
              <a:t>: Represents the operation/tasks of an object (</a:t>
            </a:r>
            <a:r>
              <a:rPr lang="en-US" dirty="0" err="1"/>
              <a:t>eg</a:t>
            </a:r>
            <a:r>
              <a:rPr lang="en-US" dirty="0"/>
              <a:t>: methods)</a:t>
            </a:r>
          </a:p>
          <a:p>
            <a:r>
              <a:rPr lang="en-US" u="sng" dirty="0"/>
              <a:t>Identity</a:t>
            </a:r>
            <a:r>
              <a:rPr lang="en-US" dirty="0"/>
              <a:t>: a unique id used by JVM to identify object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1206775"/>
      </p:ext>
    </p:extLst>
  </p:cSld>
  <p:clrMapOvr>
    <a:masterClrMapping/>
  </p:clrMapOvr>
  <p:transition spd="slow">
    <p:push dir="u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20768-1122-9FA9-0FA6-985DA6446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995825"/>
          </a:xfrm>
        </p:spPr>
        <p:txBody>
          <a:bodyPr/>
          <a:lstStyle/>
          <a:p>
            <a:r>
              <a:rPr lang="en-US" dirty="0"/>
              <a:t>Object Creation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62787-D0CA-0AFB-FC1A-68A5BA0AAB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1600200"/>
            <a:ext cx="10058400" cy="457200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Using new operator</a:t>
            </a:r>
          </a:p>
          <a:p>
            <a:pPr marL="0" indent="0">
              <a:buNone/>
            </a:pPr>
            <a:r>
              <a:rPr lang="en-US" dirty="0" err="1"/>
              <a:t>ClassName</a:t>
            </a:r>
            <a:r>
              <a:rPr lang="en-US" dirty="0"/>
              <a:t> </a:t>
            </a:r>
            <a:r>
              <a:rPr lang="en-US" dirty="0" err="1"/>
              <a:t>objectName</a:t>
            </a:r>
            <a:r>
              <a:rPr lang="en-US" dirty="0"/>
              <a:t>=new </a:t>
            </a:r>
            <a:r>
              <a:rPr lang="en-US" dirty="0" err="1"/>
              <a:t>ClassName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static factory method(SFM)</a:t>
            </a:r>
          </a:p>
          <a:p>
            <a:pPr marL="0" indent="0">
              <a:buNone/>
            </a:pPr>
            <a:r>
              <a:rPr lang="en-US" dirty="0" err="1"/>
              <a:t>ClassName</a:t>
            </a:r>
            <a:r>
              <a:rPr lang="en-US" dirty="0"/>
              <a:t> </a:t>
            </a:r>
            <a:r>
              <a:rPr lang="en-US" dirty="0" err="1"/>
              <a:t>objectName</a:t>
            </a:r>
            <a:r>
              <a:rPr lang="en-US" dirty="0"/>
              <a:t>=</a:t>
            </a:r>
            <a:r>
              <a:rPr lang="en-US" dirty="0" err="1"/>
              <a:t>ClassName.methodName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Non-Static factory method</a:t>
            </a:r>
          </a:p>
          <a:p>
            <a:pPr marL="0" indent="0">
              <a:buNone/>
            </a:pPr>
            <a:r>
              <a:rPr lang="en-US" dirty="0"/>
              <a:t>ClassName1 object1=new ClassName1();</a:t>
            </a:r>
          </a:p>
          <a:p>
            <a:pPr marL="0" indent="0">
              <a:buNone/>
            </a:pPr>
            <a:r>
              <a:rPr lang="en-US" dirty="0"/>
              <a:t>ClassName2 object2=object1.methodName();</a:t>
            </a:r>
          </a:p>
          <a:p>
            <a:pPr marL="0" indent="0">
              <a:buNone/>
            </a:pPr>
            <a:r>
              <a:rPr lang="en-US" dirty="0"/>
              <a:t>Workbook obj1=new Workbook();</a:t>
            </a:r>
          </a:p>
          <a:p>
            <a:pPr marL="0" indent="0">
              <a:buNone/>
            </a:pPr>
            <a:r>
              <a:rPr lang="en-US" dirty="0"/>
              <a:t>Sheet  obj2=obj1.getSheet();</a:t>
            </a:r>
          </a:p>
        </p:txBody>
      </p:sp>
    </p:spTree>
    <p:extLst>
      <p:ext uri="{BB962C8B-B14F-4D97-AF65-F5344CB8AC3E}">
        <p14:creationId xmlns:p14="http://schemas.microsoft.com/office/powerpoint/2010/main" val="1382454859"/>
      </p:ext>
    </p:extLst>
  </p:cSld>
  <p:clrMapOvr>
    <a:masterClrMapping/>
  </p:clrMapOvr>
  <p:transition spd="slow">
    <p:push dir="u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A47778-C4CC-CEAB-83CB-28C7E152E5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718457"/>
            <a:ext cx="10058400" cy="5453743"/>
          </a:xfrm>
        </p:spPr>
        <p:txBody>
          <a:bodyPr>
            <a:normAutofit/>
          </a:bodyPr>
          <a:lstStyle/>
          <a:p>
            <a:r>
              <a:rPr lang="en-US" dirty="0"/>
              <a:t>Using Cloning</a:t>
            </a:r>
          </a:p>
          <a:p>
            <a:pPr marL="0" indent="0">
              <a:buNone/>
            </a:pPr>
            <a:r>
              <a:rPr lang="en-US" dirty="0" err="1"/>
              <a:t>ClassName</a:t>
            </a:r>
            <a:r>
              <a:rPr lang="en-US" dirty="0"/>
              <a:t> object1=new </a:t>
            </a:r>
            <a:r>
              <a:rPr lang="en-US" dirty="0" err="1"/>
              <a:t>ClassName</a:t>
            </a:r>
            <a:r>
              <a:rPr lang="en-US" dirty="0"/>
              <a:t>();</a:t>
            </a:r>
          </a:p>
          <a:p>
            <a:pPr marL="0" indent="0">
              <a:buNone/>
            </a:pPr>
            <a:r>
              <a:rPr lang="en-US" dirty="0" err="1"/>
              <a:t>ClassName</a:t>
            </a:r>
            <a:r>
              <a:rPr lang="en-US" dirty="0"/>
              <a:t> object2=object1.clone();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literals</a:t>
            </a:r>
          </a:p>
          <a:p>
            <a:pPr marL="0" indent="0">
              <a:buNone/>
            </a:pPr>
            <a:r>
              <a:rPr lang="en-US" dirty="0" err="1"/>
              <a:t>ClassName</a:t>
            </a:r>
            <a:r>
              <a:rPr lang="en-US" dirty="0"/>
              <a:t> object= value ;</a:t>
            </a:r>
          </a:p>
          <a:p>
            <a:pPr marL="0" indent="0">
              <a:buNone/>
            </a:pPr>
            <a:r>
              <a:rPr lang="en-US" dirty="0" err="1"/>
              <a:t>e.g</a:t>
            </a:r>
            <a:r>
              <a:rPr lang="en-US" dirty="0"/>
              <a:t> String str="FLM";</a:t>
            </a:r>
          </a:p>
          <a:p>
            <a:pPr marL="0" indent="0">
              <a:buNone/>
            </a:pPr>
            <a:r>
              <a:rPr lang="en-US" dirty="0"/>
              <a:t>    Integer </a:t>
            </a:r>
            <a:r>
              <a:rPr lang="en-US" dirty="0" err="1"/>
              <a:t>i</a:t>
            </a:r>
            <a:r>
              <a:rPr lang="en-US" dirty="0"/>
              <a:t>=100;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deserialization</a:t>
            </a:r>
          </a:p>
          <a:p>
            <a:pPr marL="0" indent="0">
              <a:buNone/>
            </a:pPr>
            <a:r>
              <a:rPr lang="en-US" dirty="0"/>
              <a:t>No syntax =&gt; Implicit operation by JVM</a:t>
            </a:r>
          </a:p>
        </p:txBody>
      </p:sp>
    </p:spTree>
    <p:extLst>
      <p:ext uri="{BB962C8B-B14F-4D97-AF65-F5344CB8AC3E}">
        <p14:creationId xmlns:p14="http://schemas.microsoft.com/office/powerpoint/2010/main" val="1397666030"/>
      </p:ext>
    </p:extLst>
  </p:cSld>
  <p:clrMapOvr>
    <a:masterClrMapping/>
  </p:clrMapOvr>
  <p:transition spd="slow">
    <p:push dir="u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76610-E54B-55AC-7583-74931AAD5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A2EA3-213B-655A-7252-D83CE60411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It is blueprint/template from which you can create object</a:t>
            </a:r>
          </a:p>
        </p:txBody>
      </p:sp>
    </p:spTree>
    <p:extLst>
      <p:ext uri="{BB962C8B-B14F-4D97-AF65-F5344CB8AC3E}">
        <p14:creationId xmlns:p14="http://schemas.microsoft.com/office/powerpoint/2010/main" val="2284409821"/>
      </p:ext>
    </p:extLst>
  </p:cSld>
  <p:clrMapOvr>
    <a:masterClrMapping/>
  </p:clrMapOvr>
  <p:transition spd="slow">
    <p:push dir="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1E79C-765C-8C99-468A-D339ED09AB7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DD994A-F5E8-0BE9-A45B-897667E678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Security</a:t>
            </a:r>
          </a:p>
        </p:txBody>
      </p:sp>
    </p:spTree>
    <p:extLst>
      <p:ext uri="{BB962C8B-B14F-4D97-AF65-F5344CB8AC3E}">
        <p14:creationId xmlns:p14="http://schemas.microsoft.com/office/powerpoint/2010/main" val="2598901430"/>
      </p:ext>
    </p:extLst>
  </p:cSld>
  <p:clrMapOvr>
    <a:masterClrMapping/>
  </p:clrMapOvr>
  <p:transition spd="slow">
    <p:push dir="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22063A-0AC8-FF79-13E1-7F5E91C23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631371"/>
            <a:ext cx="10058400" cy="5540829"/>
          </a:xfrm>
        </p:spPr>
        <p:txBody>
          <a:bodyPr/>
          <a:lstStyle/>
          <a:p>
            <a:r>
              <a:rPr lang="en-US" dirty="0"/>
              <a:t>It is a mechanism of wrapping the data(variables) and code acting on the data(method) together as a single unit</a:t>
            </a:r>
          </a:p>
          <a:p>
            <a:r>
              <a:rPr lang="en-US" dirty="0"/>
              <a:t>Every class is encapsulated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Encapsulation = Data hiding + Abstraction</a:t>
            </a:r>
          </a:p>
          <a:p>
            <a:pPr marL="0" indent="0">
              <a:buNone/>
            </a:pPr>
            <a:r>
              <a:rPr lang="en-US" dirty="0"/>
              <a:t>Data hiding : Tightly encapsulation using </a:t>
            </a:r>
            <a:r>
              <a:rPr lang="en-US" b="1" dirty="0">
                <a:solidFill>
                  <a:srgbClr val="00B050"/>
                </a:solidFill>
              </a:rPr>
              <a:t>private</a:t>
            </a:r>
            <a:r>
              <a:rPr lang="en-US" b="1" dirty="0"/>
              <a:t> </a:t>
            </a:r>
            <a:r>
              <a:rPr lang="en-US" dirty="0"/>
              <a:t>keyword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keyword:</a:t>
            </a:r>
          </a:p>
          <a:p>
            <a:pPr marL="0" indent="0">
              <a:buNone/>
            </a:pPr>
            <a:r>
              <a:rPr lang="en-US" dirty="0"/>
              <a:t>It is used to replace the current calling object reference.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213252"/>
      </p:ext>
    </p:extLst>
  </p:cSld>
  <p:clrMapOvr>
    <a:masterClrMapping/>
  </p:clrMapOvr>
  <p:transition spd="slow">
    <p:push dir="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EA594-5A79-3EAA-7092-2115CBAF2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Print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E4C52B-4EB7-72DA-681C-5B28C33F5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println</a:t>
            </a:r>
            <a:r>
              <a:rPr lang="en-US" dirty="0"/>
              <a:t>() : print data and move cursor to next line</a:t>
            </a:r>
          </a:p>
          <a:p>
            <a:r>
              <a:rPr lang="en-US" dirty="0"/>
              <a:t>print(): print data and cursor stays in same line</a:t>
            </a:r>
          </a:p>
          <a:p>
            <a:r>
              <a:rPr lang="en-US" dirty="0" err="1"/>
              <a:t>printf</a:t>
            </a:r>
            <a:r>
              <a:rPr lang="en-US" dirty="0"/>
              <a:t>(): this will give output as per string format but cursor remains in same line</a:t>
            </a:r>
          </a:p>
          <a:p>
            <a:pPr marL="0" indent="0">
              <a:buNone/>
            </a:pPr>
            <a:r>
              <a:rPr lang="en-US" dirty="0"/>
              <a:t>public </a:t>
            </a:r>
            <a:r>
              <a:rPr lang="en-US" dirty="0" err="1"/>
              <a:t>PrintStream</a:t>
            </a:r>
            <a:r>
              <a:rPr lang="en-US" dirty="0"/>
              <a:t> </a:t>
            </a:r>
            <a:r>
              <a:rPr lang="en-US" dirty="0" err="1"/>
              <a:t>printf</a:t>
            </a:r>
            <a:r>
              <a:rPr lang="en-US" dirty="0"/>
              <a:t>(String format, Object ... </a:t>
            </a:r>
            <a:r>
              <a:rPr lang="en-US" dirty="0" err="1"/>
              <a:t>args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public </a:t>
            </a:r>
            <a:r>
              <a:rPr lang="en-US" dirty="0" err="1"/>
              <a:t>PrintStream</a:t>
            </a:r>
            <a:r>
              <a:rPr lang="en-US" dirty="0"/>
              <a:t> format(String format, Object ... </a:t>
            </a:r>
            <a:r>
              <a:rPr lang="en-US" dirty="0" err="1"/>
              <a:t>args</a:t>
            </a:r>
            <a:r>
              <a:rPr lang="en-US" dirty="0"/>
              <a:t>)</a:t>
            </a:r>
          </a:p>
          <a:p>
            <a:r>
              <a:rPr lang="en-US" dirty="0"/>
              <a:t>Format(): same as the </a:t>
            </a:r>
            <a:r>
              <a:rPr lang="en-US" dirty="0" err="1"/>
              <a:t>printf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6194060"/>
      </p:ext>
    </p:extLst>
  </p:cSld>
  <p:clrMapOvr>
    <a:masterClrMapping/>
  </p:clrMapOvr>
  <p:transition spd="slow">
    <p:push dir="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43413-A881-9DD4-6B82-507C9594EF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Polymorphism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A25717-D4D3-7150-9ED6-8CC8511E76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Flexibility</a:t>
            </a:r>
          </a:p>
        </p:txBody>
      </p:sp>
    </p:spTree>
    <p:extLst>
      <p:ext uri="{BB962C8B-B14F-4D97-AF65-F5344CB8AC3E}">
        <p14:creationId xmlns:p14="http://schemas.microsoft.com/office/powerpoint/2010/main" val="998779519"/>
      </p:ext>
    </p:extLst>
  </p:cSld>
  <p:clrMapOvr>
    <a:masterClrMapping/>
  </p:clrMapOvr>
  <p:transition spd="slow">
    <p:push dir="u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59CBCF-78F9-7C11-EAA2-DD973D89E3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method is available in many forms / formats</a:t>
            </a:r>
          </a:p>
          <a:p>
            <a:pPr marL="0" indent="0">
              <a:buNone/>
            </a:pPr>
            <a:r>
              <a:rPr lang="en-US" dirty="0"/>
              <a:t>Ex:</a:t>
            </a:r>
          </a:p>
          <a:p>
            <a:pPr marL="0" indent="0">
              <a:buNone/>
            </a:pPr>
            <a:r>
              <a:rPr lang="en-US" dirty="0"/>
              <a:t>add(int, int)</a:t>
            </a:r>
          </a:p>
          <a:p>
            <a:pPr marL="0" indent="0">
              <a:buNone/>
            </a:pPr>
            <a:r>
              <a:rPr lang="en-US" dirty="0"/>
              <a:t>add(float, int)</a:t>
            </a:r>
          </a:p>
          <a:p>
            <a:pPr marL="0" indent="0">
              <a:buNone/>
            </a:pPr>
            <a:r>
              <a:rPr lang="en-US" dirty="0"/>
              <a:t>add(long, long)</a:t>
            </a:r>
          </a:p>
          <a:p>
            <a:pPr marL="0" indent="0">
              <a:buNone/>
            </a:pPr>
            <a:r>
              <a:rPr lang="en-US" dirty="0"/>
              <a:t>add(int, </a:t>
            </a:r>
            <a:r>
              <a:rPr lang="en-US" dirty="0" err="1"/>
              <a:t>int,long</a:t>
            </a:r>
            <a:r>
              <a:rPr lang="en-US" dirty="0"/>
              <a:t>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39C2FD-318C-420B-6FF0-2FA724AC6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</p:spPr>
        <p:txBody>
          <a:bodyPr/>
          <a:lstStyle/>
          <a:p>
            <a:r>
              <a:rPr lang="en-US" dirty="0"/>
              <a:t>polymorphism</a:t>
            </a:r>
          </a:p>
        </p:txBody>
      </p:sp>
    </p:spTree>
    <p:extLst>
      <p:ext uri="{BB962C8B-B14F-4D97-AF65-F5344CB8AC3E}">
        <p14:creationId xmlns:p14="http://schemas.microsoft.com/office/powerpoint/2010/main" val="2033535994"/>
      </p:ext>
    </p:extLst>
  </p:cSld>
  <p:clrMapOvr>
    <a:masterClrMapping/>
  </p:clrMapOvr>
  <p:transition spd="slow">
    <p:push dir="u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AF099B1-DDAF-819F-0DBB-541EFE9E32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2569465"/>
          </a:xfrm>
          <a:ln>
            <a:solidFill>
              <a:srgbClr val="0070C0"/>
            </a:solidFill>
          </a:ln>
        </p:spPr>
        <p:txBody>
          <a:bodyPr/>
          <a:lstStyle/>
          <a:p>
            <a:r>
              <a:rPr lang="en-US" dirty="0"/>
              <a:t>Static polymorphism </a:t>
            </a:r>
          </a:p>
          <a:p>
            <a:r>
              <a:rPr lang="en-US" dirty="0"/>
              <a:t>Compile time polymorphism</a:t>
            </a:r>
          </a:p>
          <a:p>
            <a:r>
              <a:rPr lang="en-US" dirty="0"/>
              <a:t>Early binding</a:t>
            </a:r>
          </a:p>
          <a:p>
            <a:r>
              <a:rPr lang="en-US" dirty="0"/>
              <a:t>Method overloading</a:t>
            </a:r>
          </a:p>
          <a:p>
            <a:r>
              <a:rPr lang="en-US" dirty="0"/>
              <a:t>Operator overloading(</a:t>
            </a:r>
            <a:r>
              <a:rPr lang="en-US" dirty="0">
                <a:solidFill>
                  <a:srgbClr val="FF0000"/>
                </a:solidFill>
              </a:rPr>
              <a:t>java not supported</a:t>
            </a:r>
            <a:r>
              <a:rPr lang="en-US" dirty="0"/>
              <a:t>)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0FDCBD9-B260-FE47-EA0B-BCDF25B05F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2569465"/>
          </a:xfrm>
          <a:ln>
            <a:solidFill>
              <a:srgbClr val="0070C0"/>
            </a:solidFill>
          </a:ln>
        </p:spPr>
        <p:txBody>
          <a:bodyPr/>
          <a:lstStyle/>
          <a:p>
            <a:r>
              <a:rPr lang="en-US" dirty="0"/>
              <a:t>Dynamic polymorphism</a:t>
            </a:r>
          </a:p>
          <a:p>
            <a:r>
              <a:rPr lang="en-US" dirty="0"/>
              <a:t>Runtime</a:t>
            </a:r>
          </a:p>
          <a:p>
            <a:r>
              <a:rPr lang="en-US" dirty="0"/>
              <a:t>Late binding</a:t>
            </a:r>
          </a:p>
          <a:p>
            <a:r>
              <a:rPr lang="en-US" dirty="0"/>
              <a:t>Method overriding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6106A4-76C5-77B9-0C00-5C37C498D99A}"/>
              </a:ext>
            </a:extLst>
          </p:cNvPr>
          <p:cNvSpPr txBox="1"/>
          <p:nvPr/>
        </p:nvSpPr>
        <p:spPr>
          <a:xfrm>
            <a:off x="2035629" y="5268686"/>
            <a:ext cx="4669035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Binding: linking caller and called methods</a:t>
            </a:r>
          </a:p>
        </p:txBody>
      </p:sp>
    </p:spTree>
    <p:extLst>
      <p:ext uri="{BB962C8B-B14F-4D97-AF65-F5344CB8AC3E}">
        <p14:creationId xmlns:p14="http://schemas.microsoft.com/office/powerpoint/2010/main" val="2478743532"/>
      </p:ext>
    </p:extLst>
  </p:cSld>
  <p:clrMapOvr>
    <a:masterClrMapping/>
  </p:clrMapOvr>
  <p:transition spd="slow">
    <p:push dir="u"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9A468-5C15-B237-A0CE-6B7BFBB14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overloading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58E1F-238E-4850-A5B7-B2C194B0E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method overloading, same class will have same method with different arguments</a:t>
            </a:r>
          </a:p>
          <a:p>
            <a:r>
              <a:rPr lang="en-US" dirty="0"/>
              <a:t>Showing variation in no of arguments</a:t>
            </a:r>
          </a:p>
          <a:p>
            <a:r>
              <a:rPr lang="en-US" dirty="0"/>
              <a:t>Difference in data types</a:t>
            </a:r>
          </a:p>
          <a:p>
            <a:r>
              <a:rPr lang="en-US" dirty="0"/>
              <a:t>Change in order of arguments (few cases it wont work so we don’t prefer).</a:t>
            </a:r>
          </a:p>
        </p:txBody>
      </p:sp>
    </p:spTree>
    <p:extLst>
      <p:ext uri="{BB962C8B-B14F-4D97-AF65-F5344CB8AC3E}">
        <p14:creationId xmlns:p14="http://schemas.microsoft.com/office/powerpoint/2010/main" val="2149873495"/>
      </p:ext>
    </p:extLst>
  </p:cSld>
  <p:clrMapOvr>
    <a:masterClrMapping/>
  </p:clrMapOvr>
  <p:transition spd="slow">
    <p:push dir="u"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2EE9C-5178-B0F8-B90A-5D469B2CF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1AF68B-0330-9D63-75AC-31BF1C5AA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a method name is same as class name, then it is called CONSTRUCTOR.</a:t>
            </a:r>
          </a:p>
          <a:p>
            <a:pPr marL="0" indent="0">
              <a:buNone/>
            </a:pPr>
            <a:r>
              <a:rPr lang="en-US" b="1" dirty="0"/>
              <a:t>Rules:</a:t>
            </a:r>
          </a:p>
          <a:p>
            <a:r>
              <a:rPr lang="en-US" dirty="0"/>
              <a:t>Must match with </a:t>
            </a:r>
            <a:r>
              <a:rPr lang="en-US" dirty="0" err="1"/>
              <a:t>ClassName</a:t>
            </a:r>
            <a:endParaRPr lang="en-US" dirty="0"/>
          </a:p>
          <a:p>
            <a:r>
              <a:rPr lang="en-US" dirty="0"/>
              <a:t>It may have arguments but no return type</a:t>
            </a:r>
          </a:p>
          <a:p>
            <a:r>
              <a:rPr lang="en-US" dirty="0"/>
              <a:t>It should not have modifier</a:t>
            </a:r>
          </a:p>
          <a:p>
            <a:r>
              <a:rPr lang="en-US" dirty="0"/>
              <a:t>Manual calling of constructor is not possible but constructor executes during class  file loading.</a:t>
            </a:r>
          </a:p>
          <a:p>
            <a:r>
              <a:rPr lang="en-US" dirty="0"/>
              <a:t>Access-Specifier : </a:t>
            </a:r>
          </a:p>
          <a:p>
            <a:pPr lvl="8"/>
            <a:r>
              <a:rPr lang="en-US" dirty="0"/>
              <a:t>Public or protected (preferred)</a:t>
            </a:r>
          </a:p>
          <a:p>
            <a:pPr lvl="8"/>
            <a:r>
              <a:rPr lang="en-US" dirty="0"/>
              <a:t>Private or default (not preferred)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4300477"/>
      </p:ext>
    </p:extLst>
  </p:cSld>
  <p:clrMapOvr>
    <a:masterClrMapping/>
  </p:clrMapOvr>
  <p:transition spd="slow">
    <p:push dir="u"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89065-B017-86A3-F66A-10B544F83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 overloading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4858F4-0A04-A2D9-46A0-BAA1266C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Same constructor name but different parameters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847242"/>
      </p:ext>
    </p:extLst>
  </p:cSld>
  <p:clrMapOvr>
    <a:masterClrMapping/>
  </p:clrMapOvr>
  <p:transition spd="slow">
    <p:push dir="u"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017BD99-A756-A6AC-7E17-ED86A78997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Inheritance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F094933-12B5-A8A0-D13B-0F479404A0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539531"/>
      </p:ext>
    </p:extLst>
  </p:cSld>
  <p:clrMapOvr>
    <a:masterClrMapping/>
  </p:clrMapOvr>
  <p:transition spd="slow">
    <p:push dir="u"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5358-311E-D17D-B412-F5126875F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738554"/>
            <a:ext cx="10058400" cy="5433646"/>
          </a:xfrm>
          <a:ln w="19050">
            <a:solidFill>
              <a:schemeClr val="tx1"/>
            </a:solidFill>
          </a:ln>
        </p:spPr>
        <p:txBody>
          <a:bodyPr/>
          <a:lstStyle/>
          <a:p>
            <a:r>
              <a:rPr lang="en-US" dirty="0"/>
              <a:t>IS – a relation ship</a:t>
            </a:r>
          </a:p>
          <a:p>
            <a:r>
              <a:rPr lang="en-US" b="1" dirty="0">
                <a:solidFill>
                  <a:srgbClr val="FF0000"/>
                </a:solidFill>
              </a:rPr>
              <a:t>Reusability</a:t>
            </a:r>
          </a:p>
          <a:p>
            <a:r>
              <a:rPr lang="en-US" dirty="0"/>
              <a:t>“extends” keyword used for inheritance.</a:t>
            </a:r>
          </a:p>
          <a:p>
            <a:r>
              <a:rPr lang="en-US" dirty="0"/>
              <a:t>Types of inheritance(5)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Single/Simple inheritance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Multi-Level inheritance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Hieratical inheritance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Multiple inheritance (</a:t>
            </a:r>
            <a:r>
              <a:rPr lang="en-US" dirty="0">
                <a:solidFill>
                  <a:srgbClr val="FF0000"/>
                </a:solidFill>
              </a:rPr>
              <a:t>Not Supported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Hybrid inheritance (</a:t>
            </a:r>
            <a:r>
              <a:rPr lang="en-US" dirty="0">
                <a:solidFill>
                  <a:srgbClr val="FF0000"/>
                </a:solidFill>
              </a:rPr>
              <a:t>Not Supported</a:t>
            </a:r>
            <a:r>
              <a:rPr lang="en-US" dirty="0"/>
              <a:t>)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7688767"/>
      </p:ext>
    </p:extLst>
  </p:cSld>
  <p:clrMapOvr>
    <a:masterClrMapping/>
  </p:clrMapOvr>
  <p:transition spd="slow">
    <p:push dir="u"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F1924EF-4B15-C1C9-A7A7-E749109E39F2}"/>
              </a:ext>
            </a:extLst>
          </p:cNvPr>
          <p:cNvSpPr txBox="1"/>
          <p:nvPr/>
        </p:nvSpPr>
        <p:spPr>
          <a:xfrm>
            <a:off x="1441820" y="301926"/>
            <a:ext cx="2755041" cy="749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5400" cap="all" baseline="0">
                <a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tile tx="6350" ty="-127000" sx="65000" sy="64000" flip="none" algn="tl"/>
                </a:blip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5300" dirty="0"/>
              <a:t>Single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F3B5C7-474F-00E9-B469-3693B87EAEE7}"/>
              </a:ext>
            </a:extLst>
          </p:cNvPr>
          <p:cNvSpPr txBox="1"/>
          <p:nvPr/>
        </p:nvSpPr>
        <p:spPr>
          <a:xfrm>
            <a:off x="7112792" y="426114"/>
            <a:ext cx="3012832" cy="7491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defPPr>
              <a:defRPr lang="en-US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sz="5400" cap="all" baseline="0">
                <a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tile tx="6350" ty="-127000" sx="65000" sy="64000" flip="none" algn="tl"/>
                </a:blip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Multilevel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5BEFAB5-FD95-D243-9049-EDB8BF72A781}"/>
              </a:ext>
            </a:extLst>
          </p:cNvPr>
          <p:cNvSpPr/>
          <p:nvPr/>
        </p:nvSpPr>
        <p:spPr>
          <a:xfrm>
            <a:off x="1714323" y="1494705"/>
            <a:ext cx="2260600" cy="80889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254582-5F3F-54D7-5B29-613B9023F5E3}"/>
              </a:ext>
            </a:extLst>
          </p:cNvPr>
          <p:cNvSpPr/>
          <p:nvPr/>
        </p:nvSpPr>
        <p:spPr>
          <a:xfrm>
            <a:off x="1714323" y="3059736"/>
            <a:ext cx="2260600" cy="80889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91C2304-BAB1-9AFF-97A9-4A118FE355DB}"/>
              </a:ext>
            </a:extLst>
          </p:cNvPr>
          <p:cNvCxnSpPr>
            <a:stCxn id="13" idx="0"/>
            <a:endCxn id="12" idx="2"/>
          </p:cNvCxnSpPr>
          <p:nvPr/>
        </p:nvCxnSpPr>
        <p:spPr>
          <a:xfrm flipV="1">
            <a:off x="2844623" y="2303598"/>
            <a:ext cx="0" cy="756138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CCE864B-2394-1D14-E88B-50B524E61F33}"/>
              </a:ext>
            </a:extLst>
          </p:cNvPr>
          <p:cNvSpPr txBox="1"/>
          <p:nvPr/>
        </p:nvSpPr>
        <p:spPr>
          <a:xfrm>
            <a:off x="3042079" y="2561505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8AC937-03B1-33C6-1FD2-3F79B89854E8}"/>
              </a:ext>
            </a:extLst>
          </p:cNvPr>
          <p:cNvSpPr txBox="1"/>
          <p:nvPr/>
        </p:nvSpPr>
        <p:spPr>
          <a:xfrm>
            <a:off x="724211" y="4441257"/>
            <a:ext cx="4240824" cy="147732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 B(child class) can access methods from the Class A(Parent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Syntax:</a:t>
            </a:r>
          </a:p>
          <a:p>
            <a:r>
              <a:rPr lang="en-US" dirty="0">
                <a:solidFill>
                  <a:srgbClr val="FF0000"/>
                </a:solidFill>
              </a:rPr>
              <a:t>      </a:t>
            </a:r>
            <a:r>
              <a:rPr lang="en-US" dirty="0"/>
              <a:t>public </a:t>
            </a:r>
            <a:r>
              <a:rPr lang="en-US" dirty="0" err="1"/>
              <a:t>ClassB</a:t>
            </a:r>
            <a:r>
              <a:rPr lang="en-US" dirty="0"/>
              <a:t> extends </a:t>
            </a:r>
            <a:r>
              <a:rPr lang="en-US" dirty="0" err="1"/>
              <a:t>ClassA</a:t>
            </a:r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0A18B93-6DF9-BBC8-C9EC-829A611EE280}"/>
              </a:ext>
            </a:extLst>
          </p:cNvPr>
          <p:cNvSpPr/>
          <p:nvPr/>
        </p:nvSpPr>
        <p:spPr>
          <a:xfrm>
            <a:off x="7706029" y="1376137"/>
            <a:ext cx="1826357" cy="44696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7F0CE43-E355-9DFD-BD8B-72FE03729581}"/>
              </a:ext>
            </a:extLst>
          </p:cNvPr>
          <p:cNvSpPr/>
          <p:nvPr/>
        </p:nvSpPr>
        <p:spPr>
          <a:xfrm>
            <a:off x="7706029" y="2326396"/>
            <a:ext cx="1826357" cy="46892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B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7CCD7BF-DD8F-C0FA-B5BB-D8FFE603F50F}"/>
              </a:ext>
            </a:extLst>
          </p:cNvPr>
          <p:cNvCxnSpPr>
            <a:cxnSpLocks/>
            <a:stCxn id="21" idx="0"/>
            <a:endCxn id="20" idx="2"/>
          </p:cNvCxnSpPr>
          <p:nvPr/>
        </p:nvCxnSpPr>
        <p:spPr>
          <a:xfrm flipV="1">
            <a:off x="8619208" y="1823103"/>
            <a:ext cx="0" cy="50329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0B6575B-038B-FD23-032C-21CC273CBB3A}"/>
              </a:ext>
            </a:extLst>
          </p:cNvPr>
          <p:cNvSpPr txBox="1"/>
          <p:nvPr/>
        </p:nvSpPr>
        <p:spPr>
          <a:xfrm>
            <a:off x="8761223" y="1893442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D733816-E692-2194-ECC3-CD444FB8FFBD}"/>
              </a:ext>
            </a:extLst>
          </p:cNvPr>
          <p:cNvSpPr/>
          <p:nvPr/>
        </p:nvSpPr>
        <p:spPr>
          <a:xfrm>
            <a:off x="7706029" y="3335380"/>
            <a:ext cx="1826357" cy="46892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C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769360C-6C91-3A7F-CBCD-9710A4D8D404}"/>
              </a:ext>
            </a:extLst>
          </p:cNvPr>
          <p:cNvCxnSpPr>
            <a:cxnSpLocks/>
            <a:stCxn id="28" idx="0"/>
            <a:endCxn id="21" idx="2"/>
          </p:cNvCxnSpPr>
          <p:nvPr/>
        </p:nvCxnSpPr>
        <p:spPr>
          <a:xfrm flipV="1">
            <a:off x="8619208" y="2795319"/>
            <a:ext cx="0" cy="540061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FD972AE-34CD-6154-A397-33B7481AC3A3}"/>
              </a:ext>
            </a:extLst>
          </p:cNvPr>
          <p:cNvSpPr txBox="1"/>
          <p:nvPr/>
        </p:nvSpPr>
        <p:spPr>
          <a:xfrm>
            <a:off x="8761223" y="2902426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9B2B000-B640-AF59-8E1F-5BC824784E09}"/>
              </a:ext>
            </a:extLst>
          </p:cNvPr>
          <p:cNvSpPr txBox="1"/>
          <p:nvPr/>
        </p:nvSpPr>
        <p:spPr>
          <a:xfrm>
            <a:off x="5678481" y="4068666"/>
            <a:ext cx="5426320" cy="25853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 B(child class) can access methods from the Class A(Parent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 C(child class) can access methods from the Class B &amp; Class A (Parent classes)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Syntax:</a:t>
            </a:r>
          </a:p>
          <a:p>
            <a:r>
              <a:rPr lang="en-US" dirty="0">
                <a:solidFill>
                  <a:srgbClr val="FF0000"/>
                </a:solidFill>
              </a:rPr>
              <a:t>      </a:t>
            </a:r>
            <a:r>
              <a:rPr lang="en-US" dirty="0"/>
              <a:t>public </a:t>
            </a:r>
            <a:r>
              <a:rPr lang="en-US" dirty="0" err="1"/>
              <a:t>ClassB</a:t>
            </a:r>
            <a:r>
              <a:rPr lang="en-US" dirty="0"/>
              <a:t> extends </a:t>
            </a:r>
            <a:r>
              <a:rPr lang="en-US" dirty="0" err="1"/>
              <a:t>ClassA</a:t>
            </a:r>
            <a:endParaRPr lang="en-US" dirty="0"/>
          </a:p>
          <a:p>
            <a:r>
              <a:rPr lang="en-US" dirty="0"/>
              <a:t>      public </a:t>
            </a:r>
            <a:r>
              <a:rPr lang="en-US" dirty="0" err="1"/>
              <a:t>ClassC</a:t>
            </a:r>
            <a:r>
              <a:rPr lang="en-US" dirty="0"/>
              <a:t> extends </a:t>
            </a:r>
            <a:r>
              <a:rPr lang="en-US" dirty="0" err="1"/>
              <a:t>ClassB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627509"/>
      </p:ext>
    </p:extLst>
  </p:cSld>
  <p:clrMapOvr>
    <a:masterClrMapping/>
  </p:clrMapOvr>
  <p:transition spd="slow">
    <p:push dir="u"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985DCFA-BA60-AF26-F549-F852998DF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339" y="578417"/>
            <a:ext cx="5823321" cy="804906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Hierarical</a:t>
            </a:r>
            <a:r>
              <a:rPr lang="en-US" dirty="0"/>
              <a:t> Inheritance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89BE1A-7595-3CAF-9DCB-15D76C147E5D}"/>
              </a:ext>
            </a:extLst>
          </p:cNvPr>
          <p:cNvSpPr/>
          <p:nvPr/>
        </p:nvSpPr>
        <p:spPr>
          <a:xfrm>
            <a:off x="4638675" y="1774789"/>
            <a:ext cx="2260600" cy="80889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5D43C39-52E3-D022-F7AB-349AA7D03183}"/>
              </a:ext>
            </a:extLst>
          </p:cNvPr>
          <p:cNvSpPr/>
          <p:nvPr/>
        </p:nvSpPr>
        <p:spPr>
          <a:xfrm>
            <a:off x="1878926" y="3472990"/>
            <a:ext cx="2260600" cy="80889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B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2B2D107-FEC1-0F6B-C08F-F0B75E043486}"/>
              </a:ext>
            </a:extLst>
          </p:cNvPr>
          <p:cNvCxnSpPr>
            <a:stCxn id="10" idx="0"/>
            <a:endCxn id="9" idx="2"/>
          </p:cNvCxnSpPr>
          <p:nvPr/>
        </p:nvCxnSpPr>
        <p:spPr>
          <a:xfrm flipV="1">
            <a:off x="3009226" y="2583682"/>
            <a:ext cx="2759749" cy="889308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1C9ED64-E8D4-D7AF-2994-2AC347230091}"/>
              </a:ext>
            </a:extLst>
          </p:cNvPr>
          <p:cNvSpPr txBox="1"/>
          <p:nvPr/>
        </p:nvSpPr>
        <p:spPr>
          <a:xfrm>
            <a:off x="2701407" y="2828121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CB20CC4-2D4F-B508-2FA1-06D67785E5ED}"/>
              </a:ext>
            </a:extLst>
          </p:cNvPr>
          <p:cNvSpPr/>
          <p:nvPr/>
        </p:nvSpPr>
        <p:spPr>
          <a:xfrm>
            <a:off x="7293863" y="3519415"/>
            <a:ext cx="2260600" cy="80889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344F23-66FA-4834-756B-F0D80914EEBF}"/>
              </a:ext>
            </a:extLst>
          </p:cNvPr>
          <p:cNvSpPr txBox="1"/>
          <p:nvPr/>
        </p:nvSpPr>
        <p:spPr>
          <a:xfrm>
            <a:off x="7664236" y="2790655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108179-DE00-3531-C41D-FDBBDDF94E16}"/>
              </a:ext>
            </a:extLst>
          </p:cNvPr>
          <p:cNvSpPr txBox="1"/>
          <p:nvPr/>
        </p:nvSpPr>
        <p:spPr>
          <a:xfrm>
            <a:off x="928468" y="4510051"/>
            <a:ext cx="10199077" cy="203132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 B(child class) can access methods from the Class A(Parent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 C(child class) can access methods from the Class A (Parent classes) but not Class 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Syntax:</a:t>
            </a:r>
          </a:p>
          <a:p>
            <a:r>
              <a:rPr lang="en-US" dirty="0">
                <a:solidFill>
                  <a:srgbClr val="FF0000"/>
                </a:solidFill>
              </a:rPr>
              <a:t>      </a:t>
            </a:r>
            <a:r>
              <a:rPr lang="en-US" dirty="0"/>
              <a:t>public </a:t>
            </a:r>
            <a:r>
              <a:rPr lang="en-US" dirty="0" err="1"/>
              <a:t>ClassB</a:t>
            </a:r>
            <a:r>
              <a:rPr lang="en-US" dirty="0"/>
              <a:t> extends </a:t>
            </a:r>
            <a:r>
              <a:rPr lang="en-US" dirty="0" err="1"/>
              <a:t>ClassA</a:t>
            </a:r>
            <a:endParaRPr lang="en-US" dirty="0"/>
          </a:p>
          <a:p>
            <a:r>
              <a:rPr lang="en-US" dirty="0"/>
              <a:t>      public </a:t>
            </a:r>
            <a:r>
              <a:rPr lang="en-US" dirty="0" err="1"/>
              <a:t>ClassC</a:t>
            </a:r>
            <a:r>
              <a:rPr lang="en-US" dirty="0"/>
              <a:t> extends </a:t>
            </a:r>
            <a:r>
              <a:rPr lang="en-US" dirty="0" err="1"/>
              <a:t>ClassA</a:t>
            </a:r>
            <a:endParaRPr lang="en-US" dirty="0"/>
          </a:p>
          <a:p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2D7E1BF-15D8-457B-B2C1-5592DDDC75AD}"/>
              </a:ext>
            </a:extLst>
          </p:cNvPr>
          <p:cNvCxnSpPr>
            <a:stCxn id="14" idx="0"/>
            <a:endCxn id="9" idx="2"/>
          </p:cNvCxnSpPr>
          <p:nvPr/>
        </p:nvCxnSpPr>
        <p:spPr>
          <a:xfrm flipH="1" flipV="1">
            <a:off x="5768975" y="2583682"/>
            <a:ext cx="2655188" cy="93573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3816237"/>
      </p:ext>
    </p:extLst>
  </p:cSld>
  <p:clrMapOvr>
    <a:masterClrMapping/>
  </p:clrMapOvr>
  <p:transition spd="slow">
    <p:push dir="u"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194DF65A-3A36-A1F8-4B30-D74ECAE42DCB}"/>
              </a:ext>
            </a:extLst>
          </p:cNvPr>
          <p:cNvSpPr txBox="1"/>
          <p:nvPr/>
        </p:nvSpPr>
        <p:spPr>
          <a:xfrm>
            <a:off x="1242646" y="762002"/>
            <a:ext cx="3671162" cy="902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5400" cap="all" baseline="0">
                <a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tile tx="6350" ty="-127000" sx="65000" sy="64000" flip="none" algn="tl"/>
                </a:blip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Multiple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D4A3A2-2E85-2A82-F104-39AC802A6A22}"/>
              </a:ext>
            </a:extLst>
          </p:cNvPr>
          <p:cNvSpPr txBox="1"/>
          <p:nvPr/>
        </p:nvSpPr>
        <p:spPr>
          <a:xfrm>
            <a:off x="7278193" y="762002"/>
            <a:ext cx="2614246" cy="902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defPPr>
              <a:defRPr lang="en-US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sz="5400" cap="all" baseline="0">
                <a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tile tx="6350" ty="-127000" sx="65000" sy="64000" flip="none" algn="tl"/>
                </a:blip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Hybrid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8E905C-911D-F7A6-2135-ED9752B4ADB1}"/>
              </a:ext>
            </a:extLst>
          </p:cNvPr>
          <p:cNvSpPr txBox="1"/>
          <p:nvPr/>
        </p:nvSpPr>
        <p:spPr>
          <a:xfrm>
            <a:off x="4286971" y="5703220"/>
            <a:ext cx="42983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Not Supported in Java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48F6A62-7041-C997-45FA-00056A893DA7}"/>
              </a:ext>
            </a:extLst>
          </p:cNvPr>
          <p:cNvSpPr/>
          <p:nvPr/>
        </p:nvSpPr>
        <p:spPr>
          <a:xfrm>
            <a:off x="928876" y="2473050"/>
            <a:ext cx="1568139" cy="44599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C9A9CD-D75B-0FE2-AF0F-6FFC0E59EF1D}"/>
              </a:ext>
            </a:extLst>
          </p:cNvPr>
          <p:cNvSpPr/>
          <p:nvPr/>
        </p:nvSpPr>
        <p:spPr>
          <a:xfrm>
            <a:off x="1802307" y="3938954"/>
            <a:ext cx="2260600" cy="80889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B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4C8F638-8CF7-45AC-2AA8-C32DD65F2118}"/>
              </a:ext>
            </a:extLst>
          </p:cNvPr>
          <p:cNvCxnSpPr>
            <a:cxnSpLocks/>
            <a:stCxn id="3" idx="0"/>
            <a:endCxn id="2" idx="2"/>
          </p:cNvCxnSpPr>
          <p:nvPr/>
        </p:nvCxnSpPr>
        <p:spPr>
          <a:xfrm flipH="1" flipV="1">
            <a:off x="1712946" y="2919046"/>
            <a:ext cx="1219661" cy="1019908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48D66DF-3D0C-5565-C430-86498EF7E4BB}"/>
              </a:ext>
            </a:extLst>
          </p:cNvPr>
          <p:cNvSpPr txBox="1"/>
          <p:nvPr/>
        </p:nvSpPr>
        <p:spPr>
          <a:xfrm>
            <a:off x="1324708" y="3314616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FDB2DD-3EBF-B632-E493-D2D24546A96C}"/>
              </a:ext>
            </a:extLst>
          </p:cNvPr>
          <p:cNvSpPr/>
          <p:nvPr/>
        </p:nvSpPr>
        <p:spPr>
          <a:xfrm>
            <a:off x="3502901" y="2473050"/>
            <a:ext cx="1568139" cy="44599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BA9EF9-71CC-E416-9AE5-F3FC92878AD2}"/>
              </a:ext>
            </a:extLst>
          </p:cNvPr>
          <p:cNvCxnSpPr>
            <a:cxnSpLocks/>
            <a:stCxn id="3" idx="0"/>
            <a:endCxn id="10" idx="2"/>
          </p:cNvCxnSpPr>
          <p:nvPr/>
        </p:nvCxnSpPr>
        <p:spPr>
          <a:xfrm flipV="1">
            <a:off x="2932607" y="2919046"/>
            <a:ext cx="1354364" cy="1019908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F6E6B6B-38BA-9C64-3E1D-CA75FF983D01}"/>
              </a:ext>
            </a:extLst>
          </p:cNvPr>
          <p:cNvSpPr txBox="1"/>
          <p:nvPr/>
        </p:nvSpPr>
        <p:spPr>
          <a:xfrm>
            <a:off x="3652368" y="3364065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E1F5FB6-7D7D-DAAD-FD6A-3DE1D668C687}"/>
              </a:ext>
            </a:extLst>
          </p:cNvPr>
          <p:cNvSpPr/>
          <p:nvPr/>
        </p:nvSpPr>
        <p:spPr>
          <a:xfrm>
            <a:off x="6559011" y="3305375"/>
            <a:ext cx="1568139" cy="44599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B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1F7119-C9DF-C220-6645-94DA82C1F00A}"/>
              </a:ext>
            </a:extLst>
          </p:cNvPr>
          <p:cNvSpPr/>
          <p:nvPr/>
        </p:nvSpPr>
        <p:spPr>
          <a:xfrm>
            <a:off x="7856804" y="4431681"/>
            <a:ext cx="1457023" cy="44599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A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85C0955-CBF7-23E2-9BBD-20C694B24F29}"/>
              </a:ext>
            </a:extLst>
          </p:cNvPr>
          <p:cNvCxnSpPr>
            <a:cxnSpLocks/>
            <a:stCxn id="28" idx="0"/>
            <a:endCxn id="27" idx="2"/>
          </p:cNvCxnSpPr>
          <p:nvPr/>
        </p:nvCxnSpPr>
        <p:spPr>
          <a:xfrm flipH="1" flipV="1">
            <a:off x="7343081" y="3751371"/>
            <a:ext cx="1242235" cy="680310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14D6693-5ED7-0A7D-97B0-D9EE7FAC13F6}"/>
              </a:ext>
            </a:extLst>
          </p:cNvPr>
          <p:cNvSpPr txBox="1"/>
          <p:nvPr/>
        </p:nvSpPr>
        <p:spPr>
          <a:xfrm>
            <a:off x="6756926" y="3985685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9F38DF6-25AB-2D74-9C51-49C60219CF23}"/>
              </a:ext>
            </a:extLst>
          </p:cNvPr>
          <p:cNvSpPr/>
          <p:nvPr/>
        </p:nvSpPr>
        <p:spPr>
          <a:xfrm>
            <a:off x="9033221" y="3343485"/>
            <a:ext cx="1568139" cy="44599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C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43ECF52-1C88-5A5C-7613-60F99B2D2146}"/>
              </a:ext>
            </a:extLst>
          </p:cNvPr>
          <p:cNvCxnSpPr>
            <a:cxnSpLocks/>
            <a:stCxn id="28" idx="0"/>
            <a:endCxn id="31" idx="2"/>
          </p:cNvCxnSpPr>
          <p:nvPr/>
        </p:nvCxnSpPr>
        <p:spPr>
          <a:xfrm flipV="1">
            <a:off x="8585316" y="3789481"/>
            <a:ext cx="1231975" cy="642200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661FE7-F8FF-FFCC-1056-E58C98E5B53E}"/>
              </a:ext>
            </a:extLst>
          </p:cNvPr>
          <p:cNvSpPr txBox="1"/>
          <p:nvPr/>
        </p:nvSpPr>
        <p:spPr>
          <a:xfrm>
            <a:off x="9429053" y="3925915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6E096DE-0ED6-9506-B64C-22C1013DEA64}"/>
              </a:ext>
            </a:extLst>
          </p:cNvPr>
          <p:cNvSpPr/>
          <p:nvPr/>
        </p:nvSpPr>
        <p:spPr>
          <a:xfrm>
            <a:off x="7856804" y="2120888"/>
            <a:ext cx="1457023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Class D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B1F0A4B-997E-6A48-48F7-5CCF9429C92E}"/>
              </a:ext>
            </a:extLst>
          </p:cNvPr>
          <p:cNvCxnSpPr>
            <a:stCxn id="27" idx="0"/>
            <a:endCxn id="40" idx="2"/>
          </p:cNvCxnSpPr>
          <p:nvPr/>
        </p:nvCxnSpPr>
        <p:spPr>
          <a:xfrm flipV="1">
            <a:off x="7343081" y="2490220"/>
            <a:ext cx="1242235" cy="81515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624BBF3-297F-2308-B26B-CBB705733ADF}"/>
              </a:ext>
            </a:extLst>
          </p:cNvPr>
          <p:cNvCxnSpPr>
            <a:stCxn id="31" idx="0"/>
            <a:endCxn id="40" idx="2"/>
          </p:cNvCxnSpPr>
          <p:nvPr/>
        </p:nvCxnSpPr>
        <p:spPr>
          <a:xfrm flipH="1" flipV="1">
            <a:off x="8585316" y="2490220"/>
            <a:ext cx="1231975" cy="8532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AF2426F-0965-549A-DB61-271593F41FE2}"/>
              </a:ext>
            </a:extLst>
          </p:cNvPr>
          <p:cNvSpPr txBox="1"/>
          <p:nvPr/>
        </p:nvSpPr>
        <p:spPr>
          <a:xfrm>
            <a:off x="9279521" y="2619752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3616268-AB9B-99D7-FB11-86E139AD4237}"/>
              </a:ext>
            </a:extLst>
          </p:cNvPr>
          <p:cNvSpPr txBox="1"/>
          <p:nvPr/>
        </p:nvSpPr>
        <p:spPr>
          <a:xfrm>
            <a:off x="6746473" y="2684572"/>
            <a:ext cx="117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1970374100"/>
      </p:ext>
    </p:extLst>
  </p:cSld>
  <p:clrMapOvr>
    <a:masterClrMapping/>
  </p:clrMapOvr>
  <p:transition spd="slow">
    <p:push dir="u"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01167-A8C7-397A-6E68-338363FE2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Overriding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0D4C1B-FEAA-4C22-9284-B1E011AFC5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Same method name with same signature(method name , parameter list) in different classes having relationship (inheritance)</a:t>
            </a:r>
          </a:p>
          <a:p>
            <a:r>
              <a:rPr lang="en-US" dirty="0"/>
              <a:t>Method calling order is based on the created object having inheritance</a:t>
            </a:r>
          </a:p>
          <a:p>
            <a:r>
              <a:rPr lang="en-US" dirty="0"/>
              <a:t>“</a:t>
            </a:r>
            <a:r>
              <a:rPr lang="en-US" b="1" dirty="0"/>
              <a:t>super</a:t>
            </a:r>
            <a:r>
              <a:rPr lang="en-US" dirty="0"/>
              <a:t>” keyword is used to refer parent class instead of child class.</a:t>
            </a:r>
          </a:p>
        </p:txBody>
      </p:sp>
    </p:spTree>
    <p:extLst>
      <p:ext uri="{BB962C8B-B14F-4D97-AF65-F5344CB8AC3E}">
        <p14:creationId xmlns:p14="http://schemas.microsoft.com/office/powerpoint/2010/main" val="3218362889"/>
      </p:ext>
    </p:extLst>
  </p:cSld>
  <p:clrMapOvr>
    <a:masterClrMapping/>
  </p:clrMapOvr>
  <p:transition spd="slow">
    <p:push dir="u"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3D630-BA3C-D6D4-F08A-B5A913199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D825B-A288-1F27-E5AA-5C317DF2F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want to refer parent variable in child class(when child class variable or method is same as parent class) then we need to use “</a:t>
            </a:r>
            <a:r>
              <a:rPr lang="en-US" b="1" dirty="0">
                <a:solidFill>
                  <a:srgbClr val="FF0000"/>
                </a:solidFill>
              </a:rPr>
              <a:t>super</a:t>
            </a:r>
            <a:r>
              <a:rPr lang="en-US" dirty="0"/>
              <a:t>” keyword.</a:t>
            </a:r>
          </a:p>
          <a:p>
            <a:r>
              <a:rPr lang="en-US" dirty="0"/>
              <a:t>It is a non static refence</a:t>
            </a:r>
          </a:p>
          <a:p>
            <a:r>
              <a:rPr lang="en-US" dirty="0"/>
              <a:t>Syntax: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dirty="0" err="1"/>
              <a:t>super.a</a:t>
            </a:r>
            <a:r>
              <a:rPr lang="en-US" dirty="0"/>
              <a:t>; // to call parent variable from child class.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dirty="0" err="1"/>
              <a:t>super.method</a:t>
            </a:r>
            <a:r>
              <a:rPr lang="en-US" dirty="0"/>
              <a:t>(); //To call parent method from child class.</a:t>
            </a:r>
          </a:p>
          <a:p>
            <a:pPr marL="0" indent="0">
              <a:buNone/>
            </a:pPr>
            <a:r>
              <a:rPr lang="en-US" dirty="0"/>
              <a:t>        super(parameter); //To call the parent overloaded construction.</a:t>
            </a:r>
          </a:p>
        </p:txBody>
      </p:sp>
    </p:spTree>
    <p:extLst>
      <p:ext uri="{BB962C8B-B14F-4D97-AF65-F5344CB8AC3E}">
        <p14:creationId xmlns:p14="http://schemas.microsoft.com/office/powerpoint/2010/main" val="3175049883"/>
      </p:ext>
    </p:extLst>
  </p:cSld>
  <p:clrMapOvr>
    <a:masterClrMapping/>
  </p:clrMapOvr>
  <p:transition spd="slow">
    <p:push dir="u"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48507E-20B0-75B4-1094-A7D1336BD3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94F2EED-B6E1-8804-6EBE-ABAEB5E1DD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76585"/>
      </p:ext>
    </p:extLst>
  </p:cSld>
  <p:clrMapOvr>
    <a:masterClrMapping/>
  </p:clrMapOvr>
  <p:transition spd="slow">
    <p:push dir="u"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086B3F-58D5-B8E2-695F-AD0DAD0973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845501"/>
            <a:ext cx="10097386" cy="5044936"/>
          </a:xfrm>
        </p:spPr>
        <p:txBody>
          <a:bodyPr/>
          <a:lstStyle/>
          <a:p>
            <a:r>
              <a:rPr lang="en-US" dirty="0"/>
              <a:t>Two ways to implement abstraction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Through Class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Through Interface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r>
              <a:rPr lang="en-US" dirty="0"/>
              <a:t>If a class contains abstract method then class should be abstract</a:t>
            </a:r>
          </a:p>
          <a:p>
            <a:r>
              <a:rPr lang="en-US" dirty="0"/>
              <a:t>Object creation is </a:t>
            </a:r>
            <a:r>
              <a:rPr lang="en-US" dirty="0">
                <a:solidFill>
                  <a:srgbClr val="FF0000"/>
                </a:solidFill>
              </a:rPr>
              <a:t>not possible </a:t>
            </a:r>
            <a:r>
              <a:rPr lang="en-US" dirty="0"/>
              <a:t>to abstract class</a:t>
            </a:r>
          </a:p>
          <a:p>
            <a:r>
              <a:rPr lang="en-US" dirty="0"/>
              <a:t>Child class by default will be abstract until we implement the method for the parent abstract method.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022830"/>
      </p:ext>
    </p:extLst>
  </p:cSld>
  <p:clrMapOvr>
    <a:masterClrMapping/>
  </p:clrMapOvr>
  <p:transition spd="slow">
    <p:push dir="u"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64EBA40-A297-D3EB-E475-35E2D0F73A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1089" y="1680800"/>
            <a:ext cx="5128382" cy="40513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5DD20D0-4BDF-563A-7CD9-38AEB497B3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2531" y="1680800"/>
            <a:ext cx="5610562" cy="40512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DD8228-C069-44DE-C4D1-57E0CBF344B9}"/>
              </a:ext>
            </a:extLst>
          </p:cNvPr>
          <p:cNvSpPr txBox="1"/>
          <p:nvPr/>
        </p:nvSpPr>
        <p:spPr>
          <a:xfrm>
            <a:off x="761088" y="808719"/>
            <a:ext cx="51283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Child Class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86318-8A95-363A-0CC8-AD3D40167F44}"/>
              </a:ext>
            </a:extLst>
          </p:cNvPr>
          <p:cNvSpPr txBox="1"/>
          <p:nvPr/>
        </p:nvSpPr>
        <p:spPr>
          <a:xfrm>
            <a:off x="6302531" y="808719"/>
            <a:ext cx="5610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Parent Class</a:t>
            </a:r>
          </a:p>
        </p:txBody>
      </p:sp>
    </p:spTree>
    <p:extLst>
      <p:ext uri="{BB962C8B-B14F-4D97-AF65-F5344CB8AC3E}">
        <p14:creationId xmlns:p14="http://schemas.microsoft.com/office/powerpoint/2010/main" val="3776302357"/>
      </p:ext>
    </p:extLst>
  </p:cSld>
  <p:clrMapOvr>
    <a:masterClrMapping/>
  </p:clrMapOvr>
  <p:transition spd="slow">
    <p:push dir="u"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7EB626-BF1A-42F8-E946-9BAA3BEBD5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Interface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C6304719-6FB9-2B3A-1759-7164031724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224623"/>
      </p:ext>
    </p:extLst>
  </p:cSld>
  <p:clrMapOvr>
    <a:masterClrMapping/>
  </p:clrMapOvr>
  <p:transition spd="slow">
    <p:push dir="u"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EB77E3-F984-6D6F-C5C2-6CDF83149F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803564"/>
            <a:ext cx="10058400" cy="5368636"/>
          </a:xfrm>
          <a:ln>
            <a:solidFill>
              <a:schemeClr val="tx1"/>
            </a:solidFill>
          </a:ln>
        </p:spPr>
        <p:txBody>
          <a:bodyPr/>
          <a:lstStyle/>
          <a:p>
            <a:r>
              <a:rPr lang="en-US" dirty="0"/>
              <a:t>By default, interfaces are abstract in nature</a:t>
            </a:r>
          </a:p>
          <a:p>
            <a:r>
              <a:rPr lang="en-US" dirty="0"/>
              <a:t>“implements” keyword used to access the interface in class.</a:t>
            </a:r>
          </a:p>
          <a:p>
            <a:r>
              <a:rPr lang="en-US" dirty="0"/>
              <a:t>”extends” keyword is used to apply inheritance btw interfaces.</a:t>
            </a:r>
          </a:p>
          <a:p>
            <a:r>
              <a:rPr lang="en-US" dirty="0"/>
              <a:t>Multiple inheritance allowed for interfaces but not for class in java </a:t>
            </a:r>
          </a:p>
        </p:txBody>
      </p:sp>
    </p:spTree>
    <p:extLst>
      <p:ext uri="{BB962C8B-B14F-4D97-AF65-F5344CB8AC3E}">
        <p14:creationId xmlns:p14="http://schemas.microsoft.com/office/powerpoint/2010/main" val="1058207518"/>
      </p:ext>
    </p:extLst>
  </p:cSld>
  <p:clrMapOvr>
    <a:masterClrMapping/>
  </p:clrMapOvr>
  <p:transition spd="slow">
    <p:push dir="u"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DD38F6F-415A-FC09-07F5-FDC514DABA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Season 2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3B9A02D-473C-413D-DF0F-41F260594A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218876"/>
      </p:ext>
    </p:extLst>
  </p:cSld>
  <p:clrMapOvr>
    <a:masterClrMapping/>
  </p:clrMapOvr>
  <p:transition spd="slow">
    <p:push dir="u"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9C6DB-8B0B-9C12-31E6-7B2992B9E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0352A4C-C206-5E89-C00F-2D4AAB4F8B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55636" y="2120900"/>
            <a:ext cx="9487077" cy="405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005553"/>
      </p:ext>
    </p:extLst>
  </p:cSld>
  <p:clrMapOvr>
    <a:masterClrMapping/>
  </p:clrMapOvr>
  <p:transition spd="slow">
    <p:push dir="u"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A48D3-A704-659D-FB6E-110281435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CC5268-2AD4-B4DA-F3E9-9371CC225F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is a symbol which performs action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Unary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Binary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Ternary operator</a:t>
            </a:r>
          </a:p>
          <a:p>
            <a:r>
              <a:rPr lang="en-US" dirty="0"/>
              <a:t>Unary operator: ++(increment),--(decrement)</a:t>
            </a:r>
          </a:p>
          <a:p>
            <a:r>
              <a:rPr lang="en-US" dirty="0"/>
              <a:t>Increment operator: </a:t>
            </a:r>
            <a:r>
              <a:rPr lang="en-US" dirty="0" err="1"/>
              <a:t>preincrement</a:t>
            </a:r>
            <a:r>
              <a:rPr lang="en-US" dirty="0"/>
              <a:t> &amp; post increment operator</a:t>
            </a:r>
          </a:p>
          <a:p>
            <a:r>
              <a:rPr lang="en-US" dirty="0"/>
              <a:t>Decrement operator: </a:t>
            </a:r>
            <a:r>
              <a:rPr lang="en-US" dirty="0" err="1"/>
              <a:t>predecrement</a:t>
            </a:r>
            <a:r>
              <a:rPr lang="en-US" dirty="0"/>
              <a:t> operator &amp; post decrement operator</a:t>
            </a:r>
          </a:p>
          <a:p>
            <a:r>
              <a:rPr lang="en-US" dirty="0"/>
              <a:t>It is operator applicable only with 1 variable</a:t>
            </a:r>
          </a:p>
        </p:txBody>
      </p:sp>
    </p:spTree>
    <p:extLst>
      <p:ext uri="{BB962C8B-B14F-4D97-AF65-F5344CB8AC3E}">
        <p14:creationId xmlns:p14="http://schemas.microsoft.com/office/powerpoint/2010/main" val="528828904"/>
      </p:ext>
    </p:extLst>
  </p:cSld>
  <p:clrMapOvr>
    <a:masterClrMapping/>
  </p:clrMapOvr>
  <p:transition spd="slow">
    <p:push dir="u"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1B6E1-9371-7FEB-43A6-2CF6CBAFB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unary operator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7B6B7AE-4675-2BE0-1B47-E61C093142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62225" y="3308350"/>
            <a:ext cx="7073900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19819"/>
      </p:ext>
    </p:extLst>
  </p:cSld>
  <p:clrMapOvr>
    <a:masterClrMapping/>
  </p:clrMapOvr>
  <p:transition spd="slow">
    <p:push dir="u"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C0054-5DE9-F7FA-CB23-EED6C876E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operator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5A3571-3AD1-7AC4-C816-D34BA75F20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Applies for 2 operands</a:t>
            </a:r>
          </a:p>
          <a:p>
            <a:r>
              <a:rPr lang="en-US" dirty="0"/>
              <a:t>Arithmentic operator:</a:t>
            </a:r>
          </a:p>
          <a:p>
            <a:r>
              <a:rPr lang="en-US" dirty="0"/>
              <a:t>+,-,*,%,/</a:t>
            </a:r>
          </a:p>
          <a:p>
            <a:r>
              <a:rPr lang="en-US" dirty="0"/>
              <a:t>Relational operator:</a:t>
            </a:r>
          </a:p>
          <a:p>
            <a:r>
              <a:rPr lang="en-US" dirty="0"/>
              <a:t>&gt;,&lt;,&gt;=,&lt;=,==,!=</a:t>
            </a:r>
          </a:p>
          <a:p>
            <a:r>
              <a:rPr lang="en-US" dirty="0"/>
              <a:t>Logical operators: between 2 </a:t>
            </a:r>
            <a:r>
              <a:rPr lang="en-US" dirty="0" err="1"/>
              <a:t>comparisions</a:t>
            </a:r>
            <a:endParaRPr lang="en-US" dirty="0"/>
          </a:p>
          <a:p>
            <a:r>
              <a:rPr lang="en-US" dirty="0"/>
              <a:t>&amp;&amp;(and operator), ||(or operator),!</a:t>
            </a:r>
          </a:p>
          <a:p>
            <a:r>
              <a:rPr lang="en-US" dirty="0"/>
              <a:t>Bitwise operator</a:t>
            </a:r>
          </a:p>
          <a:p>
            <a:r>
              <a:rPr lang="en-US" dirty="0"/>
              <a:t>&amp; and,|or,^</a:t>
            </a:r>
            <a:r>
              <a:rPr lang="en-US" dirty="0" err="1"/>
              <a:t>xor</a:t>
            </a:r>
            <a:r>
              <a:rPr lang="en-US" dirty="0"/>
              <a:t>,~ complement,&gt;&gt;bitwise right shift,&lt;&lt;bitwise left shift,&gt;&gt;&gt; unary right shift</a:t>
            </a:r>
          </a:p>
          <a:p>
            <a:r>
              <a:rPr lang="en-US" dirty="0"/>
              <a:t>Assignment operator</a:t>
            </a:r>
          </a:p>
          <a:p>
            <a:r>
              <a:rPr lang="en-US" dirty="0"/>
              <a:t>=,+=,-=,%=,/=,&gt;&gt;=,&lt;&lt;=</a:t>
            </a:r>
          </a:p>
        </p:txBody>
      </p:sp>
    </p:spTree>
    <p:extLst>
      <p:ext uri="{BB962C8B-B14F-4D97-AF65-F5344CB8AC3E}">
        <p14:creationId xmlns:p14="http://schemas.microsoft.com/office/powerpoint/2010/main" val="1447409008"/>
      </p:ext>
    </p:extLst>
  </p:cSld>
  <p:clrMapOvr>
    <a:masterClrMapping/>
  </p:clrMapOvr>
  <p:transition spd="slow">
    <p:push dir="u"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57F20-9666-BDCB-0C51-DF68492F1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Ternary operator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E0E6A-86D1-DE21-37E3-C87798B3AA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Known as conditional operator /decision making operator</a:t>
            </a:r>
          </a:p>
          <a:p>
            <a:r>
              <a:rPr lang="en-US" dirty="0"/>
              <a:t>Expression ?expression 2: expression 3</a:t>
            </a:r>
          </a:p>
          <a:p>
            <a:r>
              <a:rPr lang="en-US" dirty="0" err="1"/>
              <a:t>Comparision?true</a:t>
            </a:r>
            <a:r>
              <a:rPr lang="en-US" dirty="0"/>
              <a:t> </a:t>
            </a:r>
            <a:r>
              <a:rPr lang="en-US" dirty="0" err="1"/>
              <a:t>statement:false</a:t>
            </a:r>
            <a:r>
              <a:rPr lang="en-US" dirty="0"/>
              <a:t> statement</a:t>
            </a:r>
          </a:p>
          <a:p>
            <a:r>
              <a:rPr lang="en-US" dirty="0"/>
              <a:t>For simple if-else statement recommended to go for </a:t>
            </a:r>
            <a:r>
              <a:rPr lang="en-US"/>
              <a:t>ternary operator</a:t>
            </a:r>
          </a:p>
        </p:txBody>
      </p:sp>
    </p:spTree>
    <p:extLst>
      <p:ext uri="{BB962C8B-B14F-4D97-AF65-F5344CB8AC3E}">
        <p14:creationId xmlns:p14="http://schemas.microsoft.com/office/powerpoint/2010/main" val="223900517"/>
      </p:ext>
    </p:extLst>
  </p:cSld>
  <p:clrMapOvr>
    <a:masterClrMapping/>
  </p:clrMapOvr>
  <p:transition spd="slow">
    <p:push dir="u"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857BD-193F-86CA-5BAB-E64E2C0DB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 statements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94507-0132-CCAE-8590-B4F97FA8D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Decision making statements: if </a:t>
            </a:r>
            <a:r>
              <a:rPr lang="en-US" dirty="0" err="1"/>
              <a:t>else,switch</a:t>
            </a:r>
            <a:endParaRPr lang="en-US" dirty="0"/>
          </a:p>
          <a:p>
            <a:r>
              <a:rPr lang="en-US" dirty="0"/>
              <a:t>Iterative : for </a:t>
            </a:r>
            <a:r>
              <a:rPr lang="en-US" dirty="0" err="1"/>
              <a:t>loop,while</a:t>
            </a:r>
            <a:r>
              <a:rPr lang="en-US" dirty="0"/>
              <a:t> loop, do </a:t>
            </a:r>
            <a:r>
              <a:rPr lang="en-US" dirty="0" err="1"/>
              <a:t>while,for</a:t>
            </a:r>
            <a:r>
              <a:rPr lang="en-US" dirty="0"/>
              <a:t> each or enhanced for loop</a:t>
            </a:r>
          </a:p>
          <a:p>
            <a:r>
              <a:rPr lang="en-US" dirty="0"/>
              <a:t>Jump/transfer: </a:t>
            </a:r>
            <a:r>
              <a:rPr lang="en-US" dirty="0" err="1"/>
              <a:t>break,continue,return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4110480"/>
      </p:ext>
    </p:extLst>
  </p:cSld>
  <p:clrMapOvr>
    <a:masterClrMapping/>
  </p:clrMapOvr>
  <p:transition spd="slow">
    <p:push dir="u"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45507-0FD9-CB39-C0C4-B7A54DE72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6D29C-42C4-B5AB-6D39-D5D8FB2EDD77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chemeClr val="accent1"/>
            </a:solidFill>
          </a:ln>
        </p:spPr>
        <p:txBody>
          <a:bodyPr>
            <a:normAutofit lnSpcReduction="10000"/>
          </a:bodyPr>
          <a:lstStyle/>
          <a:p>
            <a:r>
              <a:rPr lang="en-US" dirty="0"/>
              <a:t>Syntax:</a:t>
            </a:r>
          </a:p>
          <a:p>
            <a:pPr marL="0" indent="0">
              <a:buNone/>
            </a:pPr>
            <a:r>
              <a:rPr lang="en-US" dirty="0"/>
              <a:t>1. If(condition) </a:t>
            </a:r>
          </a:p>
          <a:p>
            <a:pPr marL="0" indent="0">
              <a:buNone/>
            </a:pPr>
            <a:r>
              <a:rPr lang="en-US" dirty="0"/>
              <a:t>//condition always give true or false(Boolean)</a:t>
            </a:r>
          </a:p>
          <a:p>
            <a:pPr marL="0" indent="0">
              <a:buNone/>
            </a:pPr>
            <a:r>
              <a:rPr lang="en-US" dirty="0"/>
              <a:t>{//statements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Else</a:t>
            </a:r>
          </a:p>
          <a:p>
            <a:pPr marL="0" indent="0">
              <a:buNone/>
            </a:pPr>
            <a:r>
              <a:rPr lang="en-US" dirty="0"/>
              <a:t>{ statement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2. If-elseif-else 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Only Declaration inside if else condition is not allowed.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14C2FC-5947-6085-18C6-D0D5978E4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599" y="3279002"/>
            <a:ext cx="5575300" cy="19558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6" name="Picture 5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BB29E71B-CC65-19A2-3A2E-86D29DE92B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0107" y="334148"/>
            <a:ext cx="5854700" cy="257810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557125002"/>
      </p:ext>
    </p:extLst>
  </p:cSld>
  <p:clrMapOvr>
    <a:masterClrMapping/>
  </p:clrMapOvr>
  <p:transition spd="slow">
    <p:push dir="u"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CA56A-180D-32BF-E98B-43936428A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Switch case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CDB3BF7-12E6-9D0D-EDDF-9FC6C57505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11525" y="3168650"/>
            <a:ext cx="5575300" cy="19558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2BBCFA2-FBBB-F3DC-9D04-4B24D3CA4F7E}"/>
              </a:ext>
            </a:extLst>
          </p:cNvPr>
          <p:cNvSpPr txBox="1"/>
          <p:nvPr/>
        </p:nvSpPr>
        <p:spPr>
          <a:xfrm>
            <a:off x="1235764" y="1989438"/>
            <a:ext cx="98863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Switch (</a:t>
            </a:r>
            <a:r>
              <a:rPr lang="en-US" b="1" dirty="0"/>
              <a:t>key</a:t>
            </a:r>
            <a:r>
              <a:rPr lang="en-US" dirty="0"/>
              <a:t>){</a:t>
            </a:r>
          </a:p>
          <a:p>
            <a:r>
              <a:rPr lang="en-US" dirty="0"/>
              <a:t>Case </a:t>
            </a:r>
            <a:r>
              <a:rPr lang="en-US" b="1" dirty="0"/>
              <a:t>value</a:t>
            </a:r>
            <a:r>
              <a:rPr lang="en-US" dirty="0"/>
              <a:t>: body or statement;</a:t>
            </a:r>
          </a:p>
          <a:p>
            <a:r>
              <a:rPr lang="en-US" dirty="0"/>
              <a:t>Break;</a:t>
            </a:r>
          </a:p>
          <a:p>
            <a:r>
              <a:rPr lang="en-US" dirty="0"/>
              <a:t>default: body</a:t>
            </a:r>
          </a:p>
        </p:txBody>
      </p:sp>
    </p:spTree>
    <p:extLst>
      <p:ext uri="{BB962C8B-B14F-4D97-AF65-F5344CB8AC3E}">
        <p14:creationId xmlns:p14="http://schemas.microsoft.com/office/powerpoint/2010/main" val="3850820059"/>
      </p:ext>
    </p:extLst>
  </p:cSld>
  <p:clrMapOvr>
    <a:masterClrMapping/>
  </p:clrMapOvr>
  <p:transition spd="slow">
    <p:push dir="u"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C8F4B-505E-DF5C-764A-2263FB216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B51B4-DF4E-F1CB-F0FE-C60D97D6E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For(initialization; condition check; increment)</a:t>
            </a:r>
          </a:p>
          <a:p>
            <a:pPr marL="0" indent="0">
              <a:buNone/>
            </a:pPr>
            <a:r>
              <a:rPr lang="en-US" dirty="0"/>
              <a:t>{statement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A6C8DD-FFCD-EB2A-E300-8DC76C817F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667" y="2662881"/>
            <a:ext cx="4343400" cy="9144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61C8334-F51A-43AC-A19D-FB68582D60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4926" y="4118754"/>
            <a:ext cx="3644900" cy="110490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458646756"/>
      </p:ext>
    </p:extLst>
  </p:cSld>
  <p:clrMapOvr>
    <a:masterClrMapping/>
  </p:clrMapOvr>
  <p:transition spd="slow">
    <p:push dir="u"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32DC2-B263-C788-439E-D3181BE1B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D8F39-F07F-1533-381F-FB30151041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BFD729-91EC-C409-C083-1281F8ABA1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131" y="2380049"/>
            <a:ext cx="4127500" cy="81280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653943476"/>
      </p:ext>
    </p:extLst>
  </p:cSld>
  <p:clrMapOvr>
    <a:masterClrMapping/>
  </p:clrMapOvr>
  <p:transition spd="slow">
    <p:push dir="u"/>
  </p:transition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B2250-6813-33FE-675C-57AEECD25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while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6A70D5-D66A-E607-E7F0-BB360FC677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E055CD-FF11-FCD2-D1BD-57D43CBAF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6850" y="2743200"/>
            <a:ext cx="4178300" cy="137160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583925176"/>
      </p:ext>
    </p:extLst>
  </p:cSld>
  <p:clrMapOvr>
    <a:masterClrMapping/>
  </p:clrMapOvr>
  <p:transition spd="slow">
    <p:push dir="u"/>
  </p:transition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BA94C-92D1-95B9-363B-E60BF12C1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&amp; continue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3FFD4B-B549-F90F-200E-DE7EC0D984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Break : we can particularly want to terminate the on going loop at particular condition we use break</a:t>
            </a:r>
          </a:p>
          <a:p>
            <a:r>
              <a:rPr lang="en-US" dirty="0"/>
              <a:t>Brak applicable in for </a:t>
            </a:r>
            <a:r>
              <a:rPr lang="en-US" dirty="0" err="1"/>
              <a:t>loop,while</a:t>
            </a:r>
            <a:r>
              <a:rPr lang="en-US" dirty="0"/>
              <a:t> </a:t>
            </a:r>
            <a:r>
              <a:rPr lang="en-US" dirty="0" err="1"/>
              <a:t>loop,do</a:t>
            </a:r>
            <a:r>
              <a:rPr lang="en-US" dirty="0"/>
              <a:t> while </a:t>
            </a:r>
            <a:r>
              <a:rPr lang="en-US" dirty="0" err="1"/>
              <a:t>loop,switch</a:t>
            </a:r>
            <a:r>
              <a:rPr lang="en-US" dirty="0"/>
              <a:t> statement.</a:t>
            </a:r>
          </a:p>
          <a:p>
            <a:r>
              <a:rPr lang="en-US" dirty="0"/>
              <a:t>Use </a:t>
            </a:r>
            <a:r>
              <a:rPr lang="en-US" b="1" dirty="0"/>
              <a:t>label</a:t>
            </a:r>
            <a:r>
              <a:rPr lang="en-US" dirty="0"/>
              <a:t> concept in break to terminate particulate loop instead of in going loop(refer </a:t>
            </a:r>
            <a:r>
              <a:rPr lang="en-US" dirty="0" err="1"/>
              <a:t>img</a:t>
            </a:r>
            <a:r>
              <a:rPr lang="en-US" dirty="0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85E098-9176-8FDB-E73D-25E367E47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6429" y="3675448"/>
            <a:ext cx="2745603" cy="2014362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464736591"/>
      </p:ext>
    </p:extLst>
  </p:cSld>
  <p:clrMapOvr>
    <a:masterClrMapping/>
  </p:clrMapOvr>
  <p:transition spd="slow">
    <p:push dir="u"/>
  </p:transition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F7431-9EF4-863F-2DDC-BDB663E83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A06B1-CA1F-A927-1098-9F3A27743A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Continue statement is used to </a:t>
            </a:r>
            <a:r>
              <a:rPr lang="en-US" b="1" dirty="0"/>
              <a:t>skip</a:t>
            </a:r>
            <a:r>
              <a:rPr lang="en-US" dirty="0"/>
              <a:t> particular loop if condition meet</a:t>
            </a:r>
          </a:p>
        </p:txBody>
      </p:sp>
    </p:spTree>
    <p:extLst>
      <p:ext uri="{BB962C8B-B14F-4D97-AF65-F5344CB8AC3E}">
        <p14:creationId xmlns:p14="http://schemas.microsoft.com/office/powerpoint/2010/main" val="3814578956"/>
      </p:ext>
    </p:extLst>
  </p:cSld>
  <p:clrMapOvr>
    <a:masterClrMapping/>
  </p:clrMapOvr>
  <p:transition spd="slow">
    <p:push dir="u"/>
  </p:transition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EE014-70D2-7A11-0379-2514CD31F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898E98-A98B-2CA2-5C3C-EBA59DB853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7" y="2121408"/>
            <a:ext cx="10248941" cy="4050792"/>
          </a:xfrm>
        </p:spPr>
        <p:txBody>
          <a:bodyPr/>
          <a:lstStyle/>
          <a:p>
            <a:r>
              <a:rPr lang="en-US" dirty="0"/>
              <a:t>Arrays are collection of homogeneous elements(</a:t>
            </a:r>
            <a:r>
              <a:rPr lang="en-US" b="1" dirty="0"/>
              <a:t>same data type</a:t>
            </a:r>
            <a:r>
              <a:rPr lang="en-US" dirty="0"/>
              <a:t>) having fixed length</a:t>
            </a:r>
          </a:p>
          <a:p>
            <a:r>
              <a:rPr lang="en-US" dirty="0"/>
              <a:t>Syntax:</a:t>
            </a:r>
          </a:p>
          <a:p>
            <a:pPr marL="0" indent="0">
              <a:buNone/>
            </a:pPr>
            <a:r>
              <a:rPr lang="en-US" dirty="0"/>
              <a:t>Method 1: </a:t>
            </a:r>
          </a:p>
          <a:p>
            <a:pPr marL="0" indent="0">
              <a:buNone/>
            </a:pPr>
            <a:r>
              <a:rPr lang="en-US" dirty="0"/>
              <a:t>Access-specifier access-modifier data-type[n] </a:t>
            </a:r>
            <a:r>
              <a:rPr lang="en-US" dirty="0" err="1"/>
              <a:t>arrayName</a:t>
            </a:r>
            <a:r>
              <a:rPr lang="en-US" dirty="0"/>
              <a:t>={value1,value2,….,</a:t>
            </a:r>
            <a:r>
              <a:rPr lang="en-US" dirty="0" err="1"/>
              <a:t>valuen</a:t>
            </a:r>
            <a:r>
              <a:rPr lang="en-US" dirty="0"/>
              <a:t>}</a:t>
            </a:r>
          </a:p>
          <a:p>
            <a:r>
              <a:rPr lang="en-US" dirty="0"/>
              <a:t>Array are fixed length variable and cannot be increased later</a:t>
            </a:r>
          </a:p>
          <a:p>
            <a:pPr marL="0" indent="0">
              <a:buNone/>
            </a:pPr>
            <a:r>
              <a:rPr lang="en-US" dirty="0"/>
              <a:t>Method 2:using new operator</a:t>
            </a:r>
          </a:p>
          <a:p>
            <a:pPr marL="0" indent="0">
              <a:buNone/>
            </a:pPr>
            <a:r>
              <a:rPr lang="en-US" dirty="0"/>
              <a:t>Access-specifier access-modifier data-type[] </a:t>
            </a:r>
            <a:r>
              <a:rPr lang="en-US" dirty="0" err="1"/>
              <a:t>arrayName</a:t>
            </a:r>
            <a:r>
              <a:rPr lang="en-US" dirty="0"/>
              <a:t>=new data-type[length] =&gt; mostly used</a:t>
            </a:r>
          </a:p>
          <a:p>
            <a:r>
              <a:rPr lang="en-US" dirty="0"/>
              <a:t>Values are stored in heap area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9198656"/>
      </p:ext>
    </p:extLst>
  </p:cSld>
  <p:clrMapOvr>
    <a:masterClrMapping/>
  </p:clrMapOvr>
  <p:transition spd="slow">
    <p:push dir="u"/>
  </p:transition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F055C-97D0-7A05-1DB3-ED314EA86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One-dimensional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A5782-B663-ECFD-F759-A63178A346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create array of objects. But we need to initialize object separately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37DC0F-F8B4-62C9-BB9C-742DF7DB2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2370" y="2971800"/>
            <a:ext cx="3822700" cy="9144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8B61E8D-0059-0975-A959-C363EE35F3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317" y="3117850"/>
            <a:ext cx="2019300" cy="15367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70F09D2-B490-745E-8A7A-6E91FF03F6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2317" y="2919469"/>
            <a:ext cx="2019300" cy="40640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577345856"/>
      </p:ext>
    </p:extLst>
  </p:cSld>
  <p:clrMapOvr>
    <a:masterClrMapping/>
  </p:clrMapOvr>
  <p:transition spd="slow">
    <p:push dir="u"/>
  </p:transition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B03DB-EF41-0348-4C3E-97D9783AC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Two-dimensional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D0219-70ED-3763-3225-E465B868F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is similar to matrix</a:t>
            </a:r>
          </a:p>
          <a:p>
            <a:pPr marL="0" indent="0">
              <a:buNone/>
            </a:pPr>
            <a:r>
              <a:rPr lang="en-US" dirty="0"/>
              <a:t>Method 1: </a:t>
            </a:r>
          </a:p>
          <a:p>
            <a:pPr marL="0" indent="0">
              <a:buNone/>
            </a:pPr>
            <a:r>
              <a:rPr lang="en-US" dirty="0"/>
              <a:t>Access-specifier access-modifier data-type[n][n] </a:t>
            </a:r>
            <a:r>
              <a:rPr lang="en-US" dirty="0" err="1"/>
              <a:t>arrayName</a:t>
            </a:r>
            <a:r>
              <a:rPr lang="en-US" dirty="0"/>
              <a:t>={value1,value2,….,</a:t>
            </a:r>
            <a:r>
              <a:rPr lang="en-US" dirty="0" err="1"/>
              <a:t>valuen</a:t>
            </a:r>
            <a:r>
              <a:rPr lang="en-US" dirty="0"/>
              <a:t>}</a:t>
            </a:r>
          </a:p>
          <a:p>
            <a:r>
              <a:rPr lang="en-US" dirty="0"/>
              <a:t>Array are fixed length variable and cannot be increased later</a:t>
            </a:r>
          </a:p>
          <a:p>
            <a:pPr marL="0" indent="0">
              <a:buNone/>
            </a:pPr>
            <a:r>
              <a:rPr lang="en-US" dirty="0"/>
              <a:t>Method 2:using new operator</a:t>
            </a:r>
          </a:p>
          <a:p>
            <a:pPr marL="0" indent="0">
              <a:buNone/>
            </a:pPr>
            <a:r>
              <a:rPr lang="en-US" dirty="0"/>
              <a:t>Access-specifier access-modifier data-type[][] </a:t>
            </a:r>
            <a:r>
              <a:rPr lang="en-US" dirty="0" err="1"/>
              <a:t>arrayName</a:t>
            </a:r>
            <a:r>
              <a:rPr lang="en-US" dirty="0"/>
              <a:t>=new data-type[rows][columns]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605788"/>
      </p:ext>
    </p:extLst>
  </p:cSld>
  <p:clrMapOvr>
    <a:masterClrMapping/>
  </p:clrMapOvr>
  <p:transition spd="slow">
    <p:push dir="u"/>
  </p:transition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CABD8-C2F8-449F-51FD-E3D173083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Disadvantages/limitations of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44B01-683F-F7B2-2B3B-92B7F75BF0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store only same data types.</a:t>
            </a:r>
          </a:p>
          <a:p>
            <a:r>
              <a:rPr lang="en-US" dirty="0"/>
              <a:t>Size of array cannot be changed once it declared.[fixed length]</a:t>
            </a:r>
          </a:p>
          <a:p>
            <a:r>
              <a:rPr lang="en-US" dirty="0"/>
              <a:t>No predefined methods or logics or data structures for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801731"/>
      </p:ext>
    </p:extLst>
  </p:cSld>
  <p:clrMapOvr>
    <a:masterClrMapping/>
  </p:clrMapOvr>
  <p:transition spd="slow">
    <p:push dir="u"/>
  </p:transition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17A769F-1A0D-D94E-5BBC-4E1D64EA0F28}"/>
              </a:ext>
            </a:extLst>
          </p:cNvPr>
          <p:cNvSpPr/>
          <p:nvPr/>
        </p:nvSpPr>
        <p:spPr>
          <a:xfrm>
            <a:off x="2718486" y="5066270"/>
            <a:ext cx="1112109" cy="531341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A35BB6-FDBC-F742-45A4-F49D44348FD6}"/>
              </a:ext>
            </a:extLst>
          </p:cNvPr>
          <p:cNvSpPr/>
          <p:nvPr/>
        </p:nvSpPr>
        <p:spPr>
          <a:xfrm>
            <a:off x="2718486" y="5066270"/>
            <a:ext cx="1112109" cy="531341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FED3C9-6840-9F23-AA4A-495A4D381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147D9-6407-69FB-D99C-1FB5A2AFB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6AE5866-D8BB-1B10-A24B-2C9B1D7EB2A8}"/>
              </a:ext>
            </a:extLst>
          </p:cNvPr>
          <p:cNvSpPr/>
          <p:nvPr/>
        </p:nvSpPr>
        <p:spPr>
          <a:xfrm>
            <a:off x="4757351" y="1289304"/>
            <a:ext cx="1865870" cy="4942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Iterable</a:t>
            </a:r>
            <a:r>
              <a:rPr lang="en-US" dirty="0"/>
              <a:t>(I)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433AF5-6947-EAC6-88AA-DBDDB58212B1}"/>
              </a:ext>
            </a:extLst>
          </p:cNvPr>
          <p:cNvSpPr/>
          <p:nvPr/>
        </p:nvSpPr>
        <p:spPr>
          <a:xfrm>
            <a:off x="4774897" y="3387811"/>
            <a:ext cx="1865870" cy="4942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Queue(I)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FD1288-7408-9A57-DCF5-AB830B71DA3D}"/>
              </a:ext>
            </a:extLst>
          </p:cNvPr>
          <p:cNvSpPr/>
          <p:nvPr/>
        </p:nvSpPr>
        <p:spPr>
          <a:xfrm>
            <a:off x="2090352" y="3387811"/>
            <a:ext cx="1865870" cy="4942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List(I)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59D929-1907-2878-6EC2-ABD7770EBB3C}"/>
              </a:ext>
            </a:extLst>
          </p:cNvPr>
          <p:cNvSpPr/>
          <p:nvPr/>
        </p:nvSpPr>
        <p:spPr>
          <a:xfrm>
            <a:off x="7549978" y="3387811"/>
            <a:ext cx="1865870" cy="4942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set(I)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1C20E5-9768-4613-FEA2-D7ACF567686B}"/>
              </a:ext>
            </a:extLst>
          </p:cNvPr>
          <p:cNvSpPr/>
          <p:nvPr/>
        </p:nvSpPr>
        <p:spPr>
          <a:xfrm>
            <a:off x="4774897" y="2341111"/>
            <a:ext cx="1865870" cy="4942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Collection(I)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CCEBA39-7422-43D2-65CD-0BE514930F34}"/>
              </a:ext>
            </a:extLst>
          </p:cNvPr>
          <p:cNvSpPr/>
          <p:nvPr/>
        </p:nvSpPr>
        <p:spPr>
          <a:xfrm>
            <a:off x="2090351" y="4409302"/>
            <a:ext cx="2320021" cy="131187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ArrayList</a:t>
            </a:r>
            <a:r>
              <a:rPr lang="en-US" dirty="0"/>
              <a:t>(c) =&gt;imp</a:t>
            </a:r>
          </a:p>
          <a:p>
            <a:pPr algn="ctr"/>
            <a:r>
              <a:rPr lang="en-US" dirty="0"/>
              <a:t>Linked list</a:t>
            </a:r>
          </a:p>
          <a:p>
            <a:pPr algn="ctr"/>
            <a:r>
              <a:rPr lang="en-US" dirty="0"/>
              <a:t>Vector</a:t>
            </a:r>
          </a:p>
          <a:p>
            <a:pPr algn="ctr"/>
            <a:r>
              <a:rPr lang="en-US" dirty="0"/>
              <a:t>stack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245BDA-4807-EA8C-2432-BBD100992C39}"/>
              </a:ext>
            </a:extLst>
          </p:cNvPr>
          <p:cNvSpPr/>
          <p:nvPr/>
        </p:nvSpPr>
        <p:spPr>
          <a:xfrm>
            <a:off x="7457383" y="4409301"/>
            <a:ext cx="1865870" cy="131187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Hashset</a:t>
            </a:r>
            <a:endParaRPr lang="en-US" dirty="0"/>
          </a:p>
          <a:p>
            <a:pPr algn="ctr"/>
            <a:r>
              <a:rPr lang="en-US" dirty="0" err="1"/>
              <a:t>Linkedhashset</a:t>
            </a:r>
            <a:endParaRPr lang="en-US" dirty="0"/>
          </a:p>
          <a:p>
            <a:pPr algn="ctr"/>
            <a:r>
              <a:rPr lang="en-US" dirty="0"/>
              <a:t>Sorted set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C1E751-D94D-2439-8212-ABBB79CA6AC3}"/>
              </a:ext>
            </a:extLst>
          </p:cNvPr>
          <p:cNvSpPr/>
          <p:nvPr/>
        </p:nvSpPr>
        <p:spPr>
          <a:xfrm>
            <a:off x="4774897" y="4818105"/>
            <a:ext cx="1865870" cy="4942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Iterable</a:t>
            </a:r>
            <a:r>
              <a:rPr lang="en-US" dirty="0"/>
              <a:t>(I)</a:t>
            </a:r>
          </a:p>
        </p:txBody>
      </p:sp>
    </p:spTree>
    <p:extLst>
      <p:ext uri="{BB962C8B-B14F-4D97-AF65-F5344CB8AC3E}">
        <p14:creationId xmlns:p14="http://schemas.microsoft.com/office/powerpoint/2010/main" val="1137251396"/>
      </p:ext>
    </p:extLst>
  </p:cSld>
  <p:clrMapOvr>
    <a:masterClrMapping/>
  </p:clrMapOvr>
  <p:transition spd="slow">
    <p:push dir="u"/>
  </p:transition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469E0-44BA-F5E0-DF7A-1275AD148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D316B-A6E7-1FD1-B734-576BFF6C7F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095285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Wood Type</Template>
  <TotalTime>12470</TotalTime>
  <Words>2612</Words>
  <Application>Microsoft Macintosh PowerPoint</Application>
  <PresentationFormat>Widescreen</PresentationFormat>
  <Paragraphs>572</Paragraphs>
  <Slides>75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4" baseType="lpstr">
      <vt:lpstr>Aptos</vt:lpstr>
      <vt:lpstr>Arial</vt:lpstr>
      <vt:lpstr>Calibri</vt:lpstr>
      <vt:lpstr>Rockwell</vt:lpstr>
      <vt:lpstr>Rockwell Condensed</vt:lpstr>
      <vt:lpstr>Rockwell Extra Bold</vt:lpstr>
      <vt:lpstr>Times New Roman</vt:lpstr>
      <vt:lpstr>Wingdings</vt:lpstr>
      <vt:lpstr>Wood Type</vt:lpstr>
      <vt:lpstr>Java</vt:lpstr>
      <vt:lpstr>Features</vt:lpstr>
      <vt:lpstr>installation</vt:lpstr>
      <vt:lpstr>PowerPoint Presentation</vt:lpstr>
      <vt:lpstr>PowerPoint Presentation</vt:lpstr>
      <vt:lpstr>JRE (java run time environment)</vt:lpstr>
      <vt:lpstr>PowerPoint Presentation</vt:lpstr>
      <vt:lpstr>CLSS</vt:lpstr>
      <vt:lpstr>EE : Execution engine</vt:lpstr>
      <vt:lpstr>JIT Compiler</vt:lpstr>
      <vt:lpstr>GC : Garbage Collector</vt:lpstr>
      <vt:lpstr>Java Memory Blocks</vt:lpstr>
      <vt:lpstr>PowerPoint Presentation</vt:lpstr>
      <vt:lpstr>Structure of Java Programs</vt:lpstr>
      <vt:lpstr>Sections</vt:lpstr>
      <vt:lpstr>1.Documentation </vt:lpstr>
      <vt:lpstr>2. package</vt:lpstr>
      <vt:lpstr>3. import</vt:lpstr>
      <vt:lpstr>4. Class or interface </vt:lpstr>
      <vt:lpstr>Main method</vt:lpstr>
      <vt:lpstr>Naming Convention</vt:lpstr>
      <vt:lpstr>variables</vt:lpstr>
      <vt:lpstr>PowerPoint Presentation</vt:lpstr>
      <vt:lpstr>PowerPoint Presentation</vt:lpstr>
      <vt:lpstr>PowerPoint Presentation</vt:lpstr>
      <vt:lpstr>PowerPoint Presentation</vt:lpstr>
      <vt:lpstr>methods</vt:lpstr>
      <vt:lpstr>PowerPoint Presentation</vt:lpstr>
      <vt:lpstr>Method classification</vt:lpstr>
      <vt:lpstr>OOP Concept</vt:lpstr>
      <vt:lpstr>Object: it is an instance of a class that represents an entity.</vt:lpstr>
      <vt:lpstr>Object Creation techniques</vt:lpstr>
      <vt:lpstr>PowerPoint Presentation</vt:lpstr>
      <vt:lpstr>class</vt:lpstr>
      <vt:lpstr>encapsulation</vt:lpstr>
      <vt:lpstr>PowerPoint Presentation</vt:lpstr>
      <vt:lpstr>Print function</vt:lpstr>
      <vt:lpstr>Polymorphism</vt:lpstr>
      <vt:lpstr>polymorphism</vt:lpstr>
      <vt:lpstr>PowerPoint Presentation</vt:lpstr>
      <vt:lpstr>Method overloading</vt:lpstr>
      <vt:lpstr>Constructor</vt:lpstr>
      <vt:lpstr>Constructor overloading</vt:lpstr>
      <vt:lpstr>Inheritance</vt:lpstr>
      <vt:lpstr>PowerPoint Presentation</vt:lpstr>
      <vt:lpstr>PowerPoint Presentation</vt:lpstr>
      <vt:lpstr>Hierarical Inheritance</vt:lpstr>
      <vt:lpstr>PowerPoint Presentation</vt:lpstr>
      <vt:lpstr>Method Overriding</vt:lpstr>
      <vt:lpstr>Super keyword</vt:lpstr>
      <vt:lpstr>Abstraction</vt:lpstr>
      <vt:lpstr>PowerPoint Presentation</vt:lpstr>
      <vt:lpstr>PowerPoint Presentation</vt:lpstr>
      <vt:lpstr>Interface</vt:lpstr>
      <vt:lpstr>PowerPoint Presentation</vt:lpstr>
      <vt:lpstr>Season 2</vt:lpstr>
      <vt:lpstr>PowerPoint Presentation</vt:lpstr>
      <vt:lpstr>PowerPoint Presentation</vt:lpstr>
      <vt:lpstr>unary operator</vt:lpstr>
      <vt:lpstr>Binary operator</vt:lpstr>
      <vt:lpstr>Ternary operator</vt:lpstr>
      <vt:lpstr>Control flow statements</vt:lpstr>
      <vt:lpstr>If else</vt:lpstr>
      <vt:lpstr>Switch case</vt:lpstr>
      <vt:lpstr>For loop</vt:lpstr>
      <vt:lpstr>While loop</vt:lpstr>
      <vt:lpstr>Do while</vt:lpstr>
      <vt:lpstr>Break &amp; continue</vt:lpstr>
      <vt:lpstr>PowerPoint Presentation</vt:lpstr>
      <vt:lpstr>Arrays</vt:lpstr>
      <vt:lpstr>One-dimensional array</vt:lpstr>
      <vt:lpstr>Two-dimensional array</vt:lpstr>
      <vt:lpstr>Disadvantages/limitations of array</vt:lpstr>
      <vt:lpstr>Collections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Sai Praveen Babu Rajapanthula</dc:creator>
  <cp:lastModifiedBy>Sai Praveen Babu Rajapanthula</cp:lastModifiedBy>
  <cp:revision>43</cp:revision>
  <dcterms:created xsi:type="dcterms:W3CDTF">2025-12-28T10:39:03Z</dcterms:created>
  <dcterms:modified xsi:type="dcterms:W3CDTF">2026-02-05T17:17:38Z</dcterms:modified>
</cp:coreProperties>
</file>